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4" r:id="rId28"/>
    <p:sldId id="283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3" r:id="rId55"/>
    <p:sldId id="310" r:id="rId56"/>
    <p:sldId id="311" r:id="rId57"/>
    <p:sldId id="312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D8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179968-83DC-4435-9D8B-24917D41A39A}" v="213" dt="2025-11-02T07:32:07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3E1B9-CE7C-C7A2-43DF-43DEB97B5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84609-3CD0-9042-53D2-61756260F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2576B-1E17-C672-7488-47F2DD92C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1053-0AC6-4C0C-93F6-BABCD389C4D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2093-FC6A-33BE-7B39-136FA8F0D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07639-C9E7-A4CA-070C-103C6508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91FC-8A79-48AE-94F3-47C63433F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411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0819C-93B1-770E-B1A8-EC8A09C25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1175F-8CFB-D19C-4FF7-FF8E76411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95692-1BF7-9C4B-26FD-AEA49BF6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1053-0AC6-4C0C-93F6-BABCD389C4D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2F3B6-990B-9CB1-DDB5-91B69BEF4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2BC4F-4B4F-1FA1-4A01-7871A72A9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91FC-8A79-48AE-94F3-47C63433F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173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5AEE3-9ABA-B111-EF02-3E0C967A1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1318E-C1F7-C221-FBDF-99F7165FD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43F51-2AF6-E0B4-1D88-DBD3C3D1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1053-0AC6-4C0C-93F6-BABCD389C4D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05907-7BB1-E788-4091-594B674A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DE135-D336-1BAC-0E38-FDE5958CA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91FC-8A79-48AE-94F3-47C63433F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024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6488F-1324-45CD-6A24-CA82F78F9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76757-E5B4-FA56-3D30-75F3BCB02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FA670-CF29-F7DE-5C69-F58E40CE0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1BD3FB-AB93-73F0-5709-4146CFCAB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1053-0AC6-4C0C-93F6-BABCD389C4D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AD5AC-5956-E6C1-DAD5-52A3355EC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F14A8-F56A-E266-21DD-758E3ADB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91FC-8A79-48AE-94F3-47C63433F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88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9710-672B-7D61-7E2E-8423CE95E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9AE51-3664-93FB-8FDC-7180582E5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3743F-D64E-1508-F155-0790203F4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EF8F1C-7216-CFDE-07D8-EDF12474B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58CC8E-943C-3EC7-4061-F6FDC1ED5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1C0E85-4209-48B0-E434-4482CF49B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1053-0AC6-4C0C-93F6-BABCD389C4D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A87A50-E2B1-62AE-0FFE-D7348CAC8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D449EE-B504-1554-F677-95BE9EEF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91FC-8A79-48AE-94F3-47C63433F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326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37F2C-B05C-A257-69A3-03492714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610C65-F3BB-2752-F1C6-BBC10B624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1053-0AC6-4C0C-93F6-BABCD389C4D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EC99C-BCA4-CE42-C93E-9F3EDA4B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9E8FA-99FE-9CEA-9F14-52A144B43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91FC-8A79-48AE-94F3-47C63433F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874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B0F5B4-75BA-0D18-DAFE-B0D16BE20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1053-0AC6-4C0C-93F6-BABCD389C4D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27E196-888B-5690-BCF9-42A6FEF7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1AB51-DE6B-11EE-B4C3-9A5CA4A4B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91FC-8A79-48AE-94F3-47C63433F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07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42BC2-8486-8315-266B-360C0832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BD35A-F0B8-12AC-0DBA-E285E4DA2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95D1E7-0F52-1D08-F7C2-69B50A922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BBB54-4FB0-889E-1A93-9A0BE829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1053-0AC6-4C0C-93F6-BABCD389C4D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53D32-B011-9BAB-FEE3-5A98F0373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B3C85-7503-9904-52ED-6C2EDAD88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91FC-8A79-48AE-94F3-47C63433F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208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8A613-B7D6-5C36-6346-382C07AE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AF3A8C-6E92-7EBF-6F8E-E0D5681A2A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6F82E-EBED-27BA-5C69-B61C07F02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4EE55-F468-52C9-343F-769274A90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1053-0AC6-4C0C-93F6-BABCD389C4D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6818F-B191-9EC5-418C-1E733DCF8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E46BC-493E-35D8-7347-7DE80BCA6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91FC-8A79-48AE-94F3-47C63433F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439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FEF2C-0A02-8366-485E-D7040648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3744B-F349-6AC2-8F13-557C192C8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E7805-4697-DC0A-09B9-7F5D81A5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1053-0AC6-4C0C-93F6-BABCD389C4D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0C6F1-9D25-B06F-0CE0-379FD9212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47D4B-9371-AB90-A529-D7C0433E6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91FC-8A79-48AE-94F3-47C63433F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564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1E2F24-D545-C1CD-F740-05245A13F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3DD17-EA2F-57DE-0193-867793998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3B3C2-DEB7-51E8-46B7-716EF0EBB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1053-0AC6-4C0C-93F6-BABCD389C4D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AB2F0-B44C-D299-4BB2-103934AA4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81686-C1A5-9F7A-4A4B-F09FA7B5E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91FC-8A79-48AE-94F3-47C63433F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870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8B327B-F588-EA01-C34A-7DC0FA185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91213-8F47-0474-6924-D4C740F94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25FDD-DAE4-3052-9B5C-BD31FE074D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11053-0AC6-4C0C-93F6-BABCD389C4D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3B563-B793-4558-F849-D32AC2B410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EBD31-BC3E-A1F7-C2E4-241D284AF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891FC-8A79-48AE-94F3-47C63433F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82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8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F4708-DF9D-F03E-54D2-79C9EE14F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5771432-F211-64BA-E577-6822EE1D390D}"/>
              </a:ext>
            </a:extLst>
          </p:cNvPr>
          <p:cNvSpPr txBox="1"/>
          <p:nvPr/>
        </p:nvSpPr>
        <p:spPr>
          <a:xfrm>
            <a:off x="235974" y="884903"/>
            <a:ext cx="12192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   </a:t>
            </a:r>
          </a:p>
          <a:p>
            <a:r>
              <a:rPr lang="en-US" sz="5400" dirty="0"/>
              <a:t>   Infosys Internship – Progress Summary</a:t>
            </a:r>
          </a:p>
          <a:p>
            <a:r>
              <a:rPr lang="en-US" sz="5400" dirty="0"/>
              <a:t>        (October 14 – October 30, 2025)</a:t>
            </a:r>
          </a:p>
          <a:p>
            <a:r>
              <a:rPr lang="en-US" sz="5400" i="1" dirty="0"/>
              <a:t>   </a:t>
            </a:r>
            <a:r>
              <a:rPr lang="en-US" sz="3200" i="1" dirty="0"/>
              <a:t>PROJECT:BUDGETWISE-AI-BASED EXPENSE FORECASTING TOOL</a:t>
            </a:r>
          </a:p>
          <a:p>
            <a:r>
              <a:rPr lang="en-US" sz="3200" i="1" dirty="0"/>
              <a:t>     DURATION:(OCTOBER 14-OCTOBER 30,2025)</a:t>
            </a:r>
          </a:p>
          <a:p>
            <a:r>
              <a:rPr lang="en-US" sz="3200" i="1" dirty="0"/>
              <a:t>     PREPARED BY:GORLE AJAY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570175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798502-969F-F75A-4662-02293D1533B8}"/>
              </a:ext>
            </a:extLst>
          </p:cNvPr>
          <p:cNvSpPr txBox="1"/>
          <p:nvPr/>
        </p:nvSpPr>
        <p:spPr>
          <a:xfrm>
            <a:off x="0" y="0"/>
            <a:ext cx="12192000" cy="507831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000" b="1" dirty="0"/>
              <a:t>TOPICS LEARNT DURING THE INTERNSHIP PERIOD</a:t>
            </a:r>
          </a:p>
          <a:p>
            <a:endParaRPr lang="en-IN" sz="2000" b="1" dirty="0"/>
          </a:p>
          <a:p>
            <a:r>
              <a:rPr lang="en-IN" sz="3200" dirty="0"/>
              <a:t> </a:t>
            </a:r>
            <a:r>
              <a:rPr lang="en-US" sz="3200" b="1" dirty="0"/>
              <a:t>Overview of AIML and Their Applications</a:t>
            </a:r>
          </a:p>
          <a:p>
            <a:endParaRPr lang="en-US" sz="1000" b="1" dirty="0"/>
          </a:p>
          <a:p>
            <a:r>
              <a:rPr lang="en-IN" sz="3200" b="1" dirty="0"/>
              <a:t> NumPy (Numerical Python)</a:t>
            </a:r>
          </a:p>
          <a:p>
            <a:endParaRPr lang="en-IN" sz="1000" b="1" dirty="0"/>
          </a:p>
          <a:p>
            <a:r>
              <a:rPr lang="en-IN" sz="3200" b="1" dirty="0"/>
              <a:t> PANDAS</a:t>
            </a:r>
          </a:p>
          <a:p>
            <a:endParaRPr lang="en-IN" sz="1000" b="1" dirty="0"/>
          </a:p>
          <a:p>
            <a:r>
              <a:rPr lang="en-IN" sz="3200" b="1" dirty="0"/>
              <a:t> Matplotlib</a:t>
            </a:r>
          </a:p>
          <a:p>
            <a:endParaRPr lang="en-IN" sz="1000" b="1" dirty="0"/>
          </a:p>
          <a:p>
            <a:r>
              <a:rPr lang="en-IN" sz="3200" b="1" dirty="0"/>
              <a:t> </a:t>
            </a:r>
            <a:r>
              <a:rPr lang="en-IN" sz="3200" b="1" dirty="0" err="1"/>
              <a:t>SeaBorn</a:t>
            </a:r>
            <a:endParaRPr lang="en-IN" sz="3200" b="1" dirty="0"/>
          </a:p>
          <a:p>
            <a:endParaRPr lang="en-US" sz="3200" b="1" dirty="0"/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455617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1622F7-888B-CE3E-AC37-2BC8B4F1A5A9}"/>
              </a:ext>
            </a:extLst>
          </p:cNvPr>
          <p:cNvSpPr txBox="1"/>
          <p:nvPr/>
        </p:nvSpPr>
        <p:spPr>
          <a:xfrm>
            <a:off x="294968" y="157314"/>
            <a:ext cx="10353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Overview of AIML and Their Applications</a:t>
            </a:r>
          </a:p>
          <a:p>
            <a:r>
              <a:rPr lang="en-IN" sz="4000" b="1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77157E-A459-2086-FAB2-D10979F64319}"/>
              </a:ext>
            </a:extLst>
          </p:cNvPr>
          <p:cNvSpPr txBox="1"/>
          <p:nvPr/>
        </p:nvSpPr>
        <p:spPr>
          <a:xfrm>
            <a:off x="294968" y="819033"/>
            <a:ext cx="11425084" cy="6440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Inventor of Artificial Intelligence:</a:t>
            </a:r>
          </a:p>
          <a:p>
            <a:endParaRPr lang="en-IN" sz="900" dirty="0"/>
          </a:p>
          <a:p>
            <a:r>
              <a:rPr lang="en-US" sz="2000" dirty="0"/>
              <a:t>The term "Artificial Intelligence" was first coined by John McCarthy in 1956</a:t>
            </a:r>
            <a:endParaRPr lang="en-US" sz="2000" b="1" dirty="0"/>
          </a:p>
          <a:p>
            <a:r>
              <a:rPr lang="en-US" sz="2000" dirty="0"/>
              <a:t>He is often called the “Father of Artificial Intelligence”</a:t>
            </a:r>
          </a:p>
          <a:p>
            <a:r>
              <a:rPr lang="en-US" sz="2000" b="1" dirty="0"/>
              <a:t>John McCarthy defined AI as:</a:t>
            </a:r>
          </a:p>
          <a:p>
            <a:r>
              <a:rPr lang="en-US" sz="2000" dirty="0"/>
              <a:t>“The science and engineering of making intelligent machines, especially intelligent computer programs.”</a:t>
            </a:r>
          </a:p>
          <a:p>
            <a:r>
              <a:rPr lang="en-US" sz="2000" b="1" dirty="0"/>
              <a:t>Objective of AI:</a:t>
            </a:r>
            <a:endParaRPr lang="en-US" sz="2000" dirty="0"/>
          </a:p>
          <a:p>
            <a:r>
              <a:rPr lang="en-US" sz="2000" dirty="0"/>
              <a:t>To create systems that can think, learn, reason, and act like humans.</a:t>
            </a:r>
          </a:p>
          <a:p>
            <a:r>
              <a:rPr lang="en-US" sz="2000" dirty="0"/>
              <a:t>AI aims to replicate human intelligence in machines.</a:t>
            </a:r>
          </a:p>
          <a:p>
            <a:endParaRPr lang="en-US" sz="1050" dirty="0"/>
          </a:p>
          <a:p>
            <a:r>
              <a:rPr lang="en-IN" sz="3200" dirty="0"/>
              <a:t>Applications of Artificial Intelligence:</a:t>
            </a:r>
          </a:p>
          <a:p>
            <a:endParaRPr lang="en-IN" sz="900" dirty="0"/>
          </a:p>
          <a:p>
            <a:r>
              <a:rPr lang="en-US" sz="2000" b="1" dirty="0"/>
              <a:t>Healthcare:</a:t>
            </a:r>
            <a:endParaRPr lang="en-US" sz="2000" dirty="0"/>
          </a:p>
          <a:p>
            <a:r>
              <a:rPr lang="en-US" sz="2000" dirty="0"/>
              <a:t>AI helps doctors detect diseases early (like cancer or diabetes) using medical images and predictive analytics.</a:t>
            </a:r>
          </a:p>
          <a:p>
            <a:r>
              <a:rPr lang="en-US" sz="2000" dirty="0"/>
              <a:t>Chatbots assist patients with symptoms and appointment scheduling.</a:t>
            </a:r>
          </a:p>
          <a:p>
            <a:endParaRPr lang="en-US" sz="2000" dirty="0"/>
          </a:p>
          <a:p>
            <a:r>
              <a:rPr lang="en-US" sz="2000" b="1" dirty="0"/>
              <a:t>Finance &amp; Banking:</a:t>
            </a:r>
            <a:endParaRPr lang="en-US" sz="2000" dirty="0"/>
          </a:p>
          <a:p>
            <a:r>
              <a:rPr lang="en-US" sz="2000" dirty="0"/>
              <a:t>AI detects fraudulent transactions and improves customer service through virtual assistants.</a:t>
            </a:r>
          </a:p>
          <a:p>
            <a:r>
              <a:rPr lang="en-US" sz="2000" dirty="0"/>
              <a:t>It’s also used for stock market predictions and credit scoring.</a:t>
            </a:r>
          </a:p>
          <a:p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95926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397F35-2E64-5911-0018-F723502E0D7F}"/>
              </a:ext>
            </a:extLst>
          </p:cNvPr>
          <p:cNvSpPr txBox="1"/>
          <p:nvPr/>
        </p:nvSpPr>
        <p:spPr>
          <a:xfrm>
            <a:off x="201561" y="238432"/>
            <a:ext cx="11788878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Transportation:</a:t>
            </a:r>
            <a:endParaRPr lang="en-US" sz="2000" dirty="0"/>
          </a:p>
          <a:p>
            <a:r>
              <a:rPr lang="en-US" sz="2000" dirty="0"/>
              <a:t>Self-driving cars use AI for navigation, object detection, and decision-making.</a:t>
            </a:r>
          </a:p>
          <a:p>
            <a:r>
              <a:rPr lang="en-US" sz="2000" dirty="0"/>
              <a:t>AI also helps optimize traffic management and logistics.</a:t>
            </a:r>
          </a:p>
          <a:p>
            <a:endParaRPr lang="en-US" sz="2000" dirty="0"/>
          </a:p>
          <a:p>
            <a:r>
              <a:rPr lang="en-US" sz="2000" b="1" dirty="0"/>
              <a:t>E-commerce:</a:t>
            </a:r>
            <a:endParaRPr lang="en-US" sz="2000" dirty="0"/>
          </a:p>
          <a:p>
            <a:r>
              <a:rPr lang="en-US" sz="2000" dirty="0"/>
              <a:t>Websites like Amazon and Flipkart use AI for product recommendations, dynamic pricing, and customer support chatbots.</a:t>
            </a:r>
          </a:p>
          <a:p>
            <a:endParaRPr lang="en-US" sz="2000" dirty="0"/>
          </a:p>
          <a:p>
            <a:r>
              <a:rPr lang="en-US" sz="2000" b="1" dirty="0"/>
              <a:t>Agriculture:</a:t>
            </a:r>
            <a:endParaRPr lang="en-US" sz="2000" dirty="0"/>
          </a:p>
          <a:p>
            <a:r>
              <a:rPr lang="en-US" sz="2000" dirty="0"/>
              <a:t>AI-powered drones monitor crops, predict yield, and detect pest infections early</a:t>
            </a:r>
          </a:p>
          <a:p>
            <a:endParaRPr lang="en-US" sz="2000" dirty="0"/>
          </a:p>
          <a:p>
            <a:r>
              <a:rPr lang="en-US" sz="2000" b="1" dirty="0"/>
              <a:t>Entertainment:</a:t>
            </a:r>
            <a:endParaRPr lang="en-US" sz="2000" dirty="0"/>
          </a:p>
          <a:p>
            <a:r>
              <a:rPr lang="en-US" sz="2000" dirty="0"/>
              <a:t>AI powers content recommendations on platforms like Netflix, YouTube, and Spotify.</a:t>
            </a:r>
          </a:p>
          <a:p>
            <a:r>
              <a:rPr lang="en-US" sz="2000" dirty="0"/>
              <a:t>It’s also used in video game development for realistic NPC (non-player character) behavior</a:t>
            </a:r>
          </a:p>
          <a:p>
            <a:endParaRPr lang="en-US" sz="2000" dirty="0"/>
          </a:p>
          <a:p>
            <a:r>
              <a:rPr lang="en-US" sz="2000" b="1" dirty="0"/>
              <a:t>Smart Assistants:</a:t>
            </a:r>
            <a:endParaRPr lang="en-US" sz="2000" dirty="0"/>
          </a:p>
          <a:p>
            <a:r>
              <a:rPr lang="en-US" sz="2000" dirty="0"/>
              <a:t>Devices like Alexa, Siri, and Google Assistant use AI for speech recognition and natural language understanding.</a:t>
            </a:r>
          </a:p>
          <a:p>
            <a:endParaRPr lang="en-US" sz="2000" dirty="0"/>
          </a:p>
          <a:p>
            <a:r>
              <a:rPr lang="en-US" sz="2000" b="1" dirty="0"/>
              <a:t>Education:</a:t>
            </a:r>
            <a:endParaRPr lang="en-US" sz="2000" dirty="0"/>
          </a:p>
          <a:p>
            <a:r>
              <a:rPr lang="en-US" sz="2000" dirty="0"/>
              <a:t>AI-based tools personalize learning experiences and help automate grading and feedback.</a:t>
            </a:r>
          </a:p>
          <a:p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4052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9C4870-F816-7FBC-E188-BD349F00034A}"/>
              </a:ext>
            </a:extLst>
          </p:cNvPr>
          <p:cNvSpPr txBox="1"/>
          <p:nvPr/>
        </p:nvSpPr>
        <p:spPr>
          <a:xfrm>
            <a:off x="186812" y="223684"/>
            <a:ext cx="11818375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Inventor of Machine Learning:</a:t>
            </a:r>
            <a:endParaRPr lang="en-IN" sz="900" dirty="0"/>
          </a:p>
          <a:p>
            <a:endParaRPr lang="en-IN" sz="900" dirty="0"/>
          </a:p>
          <a:p>
            <a:r>
              <a:rPr lang="en-IN" sz="2000" dirty="0"/>
              <a:t>The term </a:t>
            </a:r>
            <a:r>
              <a:rPr lang="en-US" sz="2000" dirty="0"/>
              <a:t>“Machine Learning” was first coined by Arthur Samuel in 1959.</a:t>
            </a:r>
          </a:p>
          <a:p>
            <a:r>
              <a:rPr lang="en-US" sz="2000" dirty="0"/>
              <a:t>He was a pioneer in computer gaming and artificial intelligence</a:t>
            </a:r>
          </a:p>
          <a:p>
            <a:r>
              <a:rPr lang="en-US" sz="2000" b="1" dirty="0"/>
              <a:t>Arthur Samuel</a:t>
            </a:r>
            <a:r>
              <a:rPr lang="en-US" sz="2000" dirty="0"/>
              <a:t> </a:t>
            </a:r>
            <a:r>
              <a:rPr lang="en-US" sz="2000" b="1" dirty="0"/>
              <a:t>defined Machine Learning as:</a:t>
            </a:r>
          </a:p>
          <a:p>
            <a:r>
              <a:rPr lang="en-US" sz="2000" dirty="0"/>
              <a:t>“The field of study that gives computers the ability to learn without being explicitly programmed.”</a:t>
            </a:r>
          </a:p>
          <a:p>
            <a:r>
              <a:rPr lang="en-US" sz="2000" dirty="0"/>
              <a:t> ML is a subset of AI that focuses on enabling systems to learn from data and improve their performance</a:t>
            </a:r>
          </a:p>
          <a:p>
            <a:r>
              <a:rPr lang="en-US" sz="2000" dirty="0"/>
              <a:t> overtime.</a:t>
            </a:r>
          </a:p>
          <a:p>
            <a:r>
              <a:rPr lang="en-US" sz="2000" dirty="0"/>
              <a:t> It uses algorithm that identify patterns and relationships in data to make predictions or decisions </a:t>
            </a:r>
          </a:p>
          <a:p>
            <a:endParaRPr lang="en-US" sz="2000" dirty="0"/>
          </a:p>
          <a:p>
            <a:r>
              <a:rPr lang="en-IN" sz="3200" dirty="0"/>
              <a:t>Applications of Machine Learning:</a:t>
            </a:r>
            <a:endParaRPr lang="en-IN" sz="900" dirty="0"/>
          </a:p>
          <a:p>
            <a:endParaRPr lang="en-IN" sz="900" dirty="0"/>
          </a:p>
          <a:p>
            <a:r>
              <a:rPr lang="en-US" sz="2000" b="1" dirty="0"/>
              <a:t> Finance:</a:t>
            </a:r>
            <a:endParaRPr lang="en-US" sz="2000" dirty="0"/>
          </a:p>
          <a:p>
            <a:r>
              <a:rPr lang="en-US" sz="2000" dirty="0"/>
              <a:t> Used in fraud detection, loan risk assessment, and algorithmic trading</a:t>
            </a:r>
          </a:p>
          <a:p>
            <a:endParaRPr lang="en-US" sz="2000" dirty="0"/>
          </a:p>
          <a:p>
            <a:r>
              <a:rPr lang="en-US" sz="2000" b="1" dirty="0"/>
              <a:t>Speech and Image Recognition:</a:t>
            </a:r>
            <a:endParaRPr lang="en-US" sz="2000" dirty="0"/>
          </a:p>
          <a:p>
            <a:r>
              <a:rPr lang="en-US" sz="2000" dirty="0"/>
              <a:t>ML powers systems like Google Lens, Face Unlock, and voice assistants.</a:t>
            </a:r>
          </a:p>
          <a:p>
            <a:endParaRPr lang="en-US" sz="2000" dirty="0"/>
          </a:p>
          <a:p>
            <a:r>
              <a:rPr lang="en-US" sz="2000" b="1" dirty="0"/>
              <a:t>Autonomous Vehicles:</a:t>
            </a:r>
            <a:endParaRPr lang="en-US" sz="2000" dirty="0"/>
          </a:p>
          <a:p>
            <a:r>
              <a:rPr lang="en-US" sz="2000" dirty="0"/>
              <a:t>ML helps self-driving cars detect objects, pedestrians, and traffic signs to make driving decisions.</a:t>
            </a:r>
          </a:p>
          <a:p>
            <a:endParaRPr lang="en-US" sz="2000" dirty="0"/>
          </a:p>
          <a:p>
            <a:endParaRPr lang="en-IN" sz="2000" dirty="0"/>
          </a:p>
          <a:p>
            <a:endParaRPr lang="en-IN" sz="3200" dirty="0"/>
          </a:p>
          <a:p>
            <a:endParaRPr lang="en-US" sz="3200" dirty="0"/>
          </a:p>
          <a:p>
            <a:r>
              <a:rPr lang="en-US" sz="2000" dirty="0"/>
              <a:t> </a:t>
            </a:r>
          </a:p>
          <a:p>
            <a:endParaRPr lang="en-IN" sz="2000" dirty="0"/>
          </a:p>
          <a:p>
            <a:endParaRPr lang="en-IN" sz="900" dirty="0"/>
          </a:p>
          <a:p>
            <a:endParaRPr lang="en-IN" sz="2000" dirty="0"/>
          </a:p>
          <a:p>
            <a:endParaRPr lang="en-IN" sz="3200" dirty="0"/>
          </a:p>
          <a:p>
            <a:endParaRPr lang="en-IN" sz="900" dirty="0"/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2617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B1A648-1B2E-B258-89B8-81D69AC67A50}"/>
              </a:ext>
            </a:extLst>
          </p:cNvPr>
          <p:cNvSpPr txBox="1"/>
          <p:nvPr/>
        </p:nvSpPr>
        <p:spPr>
          <a:xfrm>
            <a:off x="0" y="0"/>
            <a:ext cx="12260826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FE3096-A3E0-9D2C-725F-B972A506E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831744" cy="694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71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8B18B8-FB58-26C6-D814-5ADCABA58428}"/>
              </a:ext>
            </a:extLst>
          </p:cNvPr>
          <p:cNvSpPr txBox="1"/>
          <p:nvPr/>
        </p:nvSpPr>
        <p:spPr>
          <a:xfrm>
            <a:off x="105697" y="108155"/>
            <a:ext cx="11980606" cy="90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Machine Learning Life Cycle:</a:t>
            </a:r>
            <a:endParaRPr lang="en-IN" sz="900" b="1" dirty="0"/>
          </a:p>
          <a:p>
            <a:endParaRPr lang="en-IN" sz="900" b="1" dirty="0"/>
          </a:p>
          <a:p>
            <a:r>
              <a:rPr lang="en-US" sz="2000" b="1" dirty="0"/>
              <a:t>Definition:</a:t>
            </a:r>
          </a:p>
          <a:p>
            <a:r>
              <a:rPr lang="en-US" sz="2000" dirty="0"/>
              <a:t>The Machine Learning Life Cycle is the step-by-step process of developing, training, and deploying a machine learning model from data collection to performance improvement.</a:t>
            </a:r>
            <a:endParaRPr lang="en-US" sz="1000" dirty="0"/>
          </a:p>
          <a:p>
            <a:endParaRPr lang="en-US" sz="1000" dirty="0"/>
          </a:p>
          <a:p>
            <a:r>
              <a:rPr lang="en-US" sz="2400" b="1" dirty="0"/>
              <a:t>Stages</a:t>
            </a:r>
            <a:r>
              <a:rPr lang="en-US" sz="2000" b="1" dirty="0"/>
              <a:t> of the ML Life Cycle:</a:t>
            </a:r>
          </a:p>
          <a:p>
            <a:endParaRPr lang="en-US" sz="2000" b="1" dirty="0"/>
          </a:p>
          <a:p>
            <a:r>
              <a:rPr lang="en-US" sz="2000" b="1" dirty="0"/>
              <a:t>1.Data Collection</a:t>
            </a:r>
          </a:p>
          <a:p>
            <a:r>
              <a:rPr lang="en-US" sz="2000" dirty="0"/>
              <a:t>The first and most crucial stage.</a:t>
            </a:r>
          </a:p>
          <a:p>
            <a:r>
              <a:rPr lang="en-US" sz="2000" dirty="0"/>
              <a:t>Data is gathered from various sources such as databases, sensors, files, or online repositories.</a:t>
            </a:r>
          </a:p>
          <a:p>
            <a:r>
              <a:rPr lang="en-US" sz="2000" dirty="0"/>
              <a:t>The quality and quantity of data directly affect model performance.</a:t>
            </a:r>
            <a:endParaRPr lang="en-US" sz="1000" dirty="0"/>
          </a:p>
          <a:p>
            <a:endParaRPr lang="en-US" sz="2000" dirty="0"/>
          </a:p>
          <a:p>
            <a:r>
              <a:rPr lang="en-US" sz="2000" b="1" dirty="0"/>
              <a:t>2. Data Preprocessing</a:t>
            </a:r>
          </a:p>
          <a:p>
            <a:r>
              <a:rPr lang="en-US" sz="2000" dirty="0"/>
              <a:t>Raw data is often </a:t>
            </a:r>
            <a:r>
              <a:rPr lang="en-US" sz="2000" b="1" dirty="0"/>
              <a:t>incomplete, noisy, or inconsistent</a:t>
            </a:r>
            <a:r>
              <a:rPr lang="en-US" sz="2000" dirty="0"/>
              <a:t>.</a:t>
            </a:r>
          </a:p>
          <a:p>
            <a:r>
              <a:rPr lang="en-US" sz="2000" dirty="0"/>
              <a:t>Preprocessing involves:</a:t>
            </a:r>
          </a:p>
          <a:p>
            <a:pPr lvl="1"/>
            <a:r>
              <a:rPr lang="en-US" sz="2000" b="1" dirty="0"/>
              <a:t>Cleaning</a:t>
            </a:r>
            <a:r>
              <a:rPr lang="en-US" sz="2000" dirty="0"/>
              <a:t> (handling missing values)</a:t>
            </a:r>
          </a:p>
          <a:p>
            <a:pPr lvl="1"/>
            <a:r>
              <a:rPr lang="en-US" sz="2000" b="1" dirty="0"/>
              <a:t>Normalization</a:t>
            </a:r>
            <a:r>
              <a:rPr lang="en-US" sz="2000" dirty="0"/>
              <a:t> (scaling values)</a:t>
            </a:r>
          </a:p>
          <a:p>
            <a:pPr lvl="1"/>
            <a:r>
              <a:rPr lang="en-US" sz="2000" b="1" dirty="0"/>
              <a:t>Encoding</a:t>
            </a:r>
            <a:r>
              <a:rPr lang="en-US" sz="2000" dirty="0"/>
              <a:t> (converting text to numbers)</a:t>
            </a:r>
          </a:p>
          <a:p>
            <a:r>
              <a:rPr lang="en-US" sz="2000" dirty="0"/>
              <a:t>The goal is to make the data </a:t>
            </a:r>
            <a:r>
              <a:rPr lang="en-US" sz="2000" b="1" dirty="0"/>
              <a:t>ready for model training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dirty="0"/>
          </a:p>
          <a:p>
            <a:endParaRPr lang="en-IN" sz="2000" b="1" dirty="0"/>
          </a:p>
          <a:p>
            <a:endParaRPr lang="en-IN" sz="3200" b="1" dirty="0"/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154705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004A97-D958-8F37-B2F3-E4441D49E558}"/>
              </a:ext>
            </a:extLst>
          </p:cNvPr>
          <p:cNvSpPr txBox="1"/>
          <p:nvPr/>
        </p:nvSpPr>
        <p:spPr>
          <a:xfrm>
            <a:off x="147484" y="186812"/>
            <a:ext cx="11887200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3. Feature Engineering</a:t>
            </a:r>
          </a:p>
          <a:p>
            <a:r>
              <a:rPr lang="en-US" sz="2000" dirty="0"/>
              <a:t>Selecting the </a:t>
            </a:r>
            <a:r>
              <a:rPr lang="en-US" sz="2000" b="1" dirty="0"/>
              <a:t>most important variables (features)</a:t>
            </a:r>
            <a:r>
              <a:rPr lang="en-US" sz="2000" dirty="0"/>
              <a:t> that influence the output.</a:t>
            </a:r>
          </a:p>
          <a:p>
            <a:r>
              <a:rPr lang="en-US" sz="2000" dirty="0"/>
              <a:t>May also involve creating new features to improve model accuracy.</a:t>
            </a:r>
          </a:p>
          <a:p>
            <a:endParaRPr lang="en-US" sz="2000" dirty="0"/>
          </a:p>
          <a:p>
            <a:r>
              <a:rPr lang="en-US" sz="2000" b="1" dirty="0"/>
              <a:t>4. Model Selection</a:t>
            </a:r>
          </a:p>
          <a:p>
            <a:r>
              <a:rPr lang="en-US" sz="2000" dirty="0"/>
              <a:t>Choosing the best </a:t>
            </a:r>
            <a:r>
              <a:rPr lang="en-US" sz="2000" b="1" dirty="0"/>
              <a:t>algorithm</a:t>
            </a:r>
            <a:r>
              <a:rPr lang="en-US" sz="2000" dirty="0"/>
              <a:t> (like Linear Regression, Decision Trees, etc.) based on the problem — classification, regression, or clustering.</a:t>
            </a:r>
          </a:p>
          <a:p>
            <a:endParaRPr lang="en-US" sz="2000" dirty="0"/>
          </a:p>
          <a:p>
            <a:r>
              <a:rPr lang="en-US" sz="2000" b="1" dirty="0"/>
              <a:t>5. Model Training</a:t>
            </a:r>
          </a:p>
          <a:p>
            <a:r>
              <a:rPr lang="en-US" sz="2000" dirty="0"/>
              <a:t>Feeding the preprocessed data into the model so it can </a:t>
            </a:r>
            <a:r>
              <a:rPr lang="en-US" sz="2000" b="1" dirty="0"/>
              <a:t>learn patterns</a:t>
            </a:r>
            <a:r>
              <a:rPr lang="en-US" sz="2000" dirty="0"/>
              <a:t>.</a:t>
            </a:r>
          </a:p>
          <a:p>
            <a:r>
              <a:rPr lang="en-US" sz="2000" dirty="0"/>
              <a:t>The model adjusts its parameters to minimize prediction error.</a:t>
            </a:r>
          </a:p>
          <a:p>
            <a:endParaRPr lang="en-US" b="1" dirty="0"/>
          </a:p>
          <a:p>
            <a:r>
              <a:rPr lang="en-US" sz="2000" b="1" dirty="0"/>
              <a:t>6. Model Evaluation</a:t>
            </a:r>
          </a:p>
          <a:p>
            <a:r>
              <a:rPr lang="en-US" sz="2000" dirty="0"/>
              <a:t>The trained model is tested using </a:t>
            </a:r>
            <a:r>
              <a:rPr lang="en-US" sz="2000" b="1" dirty="0"/>
              <a:t>evaluation metrics</a:t>
            </a:r>
            <a:r>
              <a:rPr lang="en-US" sz="2000" dirty="0"/>
              <a:t> like:</a:t>
            </a:r>
          </a:p>
          <a:p>
            <a:pPr lvl="1"/>
            <a:r>
              <a:rPr lang="en-US" sz="2000" dirty="0"/>
              <a:t>Accuracy</a:t>
            </a:r>
          </a:p>
          <a:p>
            <a:pPr lvl="1"/>
            <a:r>
              <a:rPr lang="en-US" sz="2000" dirty="0"/>
              <a:t>Precision</a:t>
            </a:r>
          </a:p>
          <a:p>
            <a:pPr lvl="1"/>
            <a:r>
              <a:rPr lang="en-US" sz="2000" dirty="0"/>
              <a:t>Recall</a:t>
            </a:r>
          </a:p>
          <a:p>
            <a:pPr lvl="1"/>
            <a:r>
              <a:rPr lang="en-US" sz="2000" dirty="0"/>
              <a:t>F1 Score</a:t>
            </a:r>
          </a:p>
          <a:p>
            <a:r>
              <a:rPr lang="en-US" sz="2000" dirty="0"/>
              <a:t>The performance is compared with expected results.</a:t>
            </a:r>
          </a:p>
          <a:p>
            <a:endParaRPr lang="en-US" sz="900" dirty="0"/>
          </a:p>
          <a:p>
            <a:r>
              <a:rPr lang="en-US" sz="2000" b="1" dirty="0"/>
              <a:t>7. Model Deployment</a:t>
            </a:r>
          </a:p>
          <a:p>
            <a:r>
              <a:rPr lang="en-US" sz="2000" dirty="0"/>
              <a:t>The final model is integrated into a </a:t>
            </a:r>
            <a:r>
              <a:rPr lang="en-US" sz="2000" b="1" dirty="0"/>
              <a:t>real-world application</a:t>
            </a:r>
            <a:r>
              <a:rPr lang="en-US" sz="2000" dirty="0"/>
              <a:t> to make predictions on live data.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IN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57807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7932B6-F2BD-D471-69B5-538ED158E625}"/>
              </a:ext>
            </a:extLst>
          </p:cNvPr>
          <p:cNvSpPr txBox="1"/>
          <p:nvPr/>
        </p:nvSpPr>
        <p:spPr>
          <a:xfrm>
            <a:off x="196646" y="164690"/>
            <a:ext cx="11838038" cy="85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Machine Learning – Key Definitions</a:t>
            </a:r>
            <a:endParaRPr lang="en-IN" sz="900" b="1" dirty="0"/>
          </a:p>
          <a:p>
            <a:endParaRPr lang="en-IN" sz="900" b="1" dirty="0"/>
          </a:p>
          <a:p>
            <a:r>
              <a:rPr lang="en-US" sz="2400" b="1" dirty="0"/>
              <a:t>Algorithm:</a:t>
            </a:r>
            <a:br>
              <a:rPr lang="en-US" sz="2400" dirty="0"/>
            </a:br>
            <a:r>
              <a:rPr lang="en-US" sz="2400" dirty="0"/>
              <a:t>A set of rules and statistical techniques used to learn patterns from data.</a:t>
            </a:r>
          </a:p>
          <a:p>
            <a:endParaRPr lang="en-US" sz="2400" b="1" dirty="0"/>
          </a:p>
          <a:p>
            <a:r>
              <a:rPr lang="en-US" sz="2400" b="1" dirty="0"/>
              <a:t>Model:</a:t>
            </a:r>
            <a:br>
              <a:rPr lang="en-US" sz="2400" dirty="0"/>
            </a:br>
            <a:r>
              <a:rPr lang="en-US" sz="2400" dirty="0"/>
              <a:t>A model is trained using a Machine Learning algorithm to make predictions or decisions.</a:t>
            </a:r>
          </a:p>
          <a:p>
            <a:endParaRPr lang="en-US" sz="2000" b="1" dirty="0"/>
          </a:p>
          <a:p>
            <a:r>
              <a:rPr lang="en-US" sz="2400" b="1" dirty="0"/>
              <a:t>Predictor Variable (Feature):</a:t>
            </a:r>
            <a:br>
              <a:rPr lang="en-US" sz="2400" dirty="0"/>
            </a:br>
            <a:r>
              <a:rPr lang="en-US" sz="2400" dirty="0"/>
              <a:t>It is the feature(s) of the data that can be used to predict the output.</a:t>
            </a:r>
          </a:p>
          <a:p>
            <a:endParaRPr lang="en-US" sz="2400" b="1" dirty="0"/>
          </a:p>
          <a:p>
            <a:r>
              <a:rPr lang="en-US" sz="2400" b="1" dirty="0"/>
              <a:t>Predictor Variable (Feature):</a:t>
            </a:r>
            <a:br>
              <a:rPr lang="en-US" sz="2400" dirty="0"/>
            </a:br>
            <a:r>
              <a:rPr lang="en-US" sz="2400" dirty="0"/>
              <a:t>It is the feature(s) of the data that can be used to predict the output.</a:t>
            </a:r>
          </a:p>
          <a:p>
            <a:endParaRPr lang="en-US" sz="2400" b="1" dirty="0"/>
          </a:p>
          <a:p>
            <a:r>
              <a:rPr lang="en-US" sz="2400" b="1" dirty="0"/>
              <a:t>Training Data:</a:t>
            </a:r>
            <a:br>
              <a:rPr lang="en-US" sz="2400" dirty="0"/>
            </a:br>
            <a:r>
              <a:rPr lang="en-US" sz="2400" dirty="0"/>
              <a:t>The Machine Learning model is built using the training dataset.</a:t>
            </a:r>
            <a:endParaRPr lang="en-US" dirty="0"/>
          </a:p>
          <a:p>
            <a:endParaRPr lang="en-US" dirty="0"/>
          </a:p>
          <a:p>
            <a:r>
              <a:rPr lang="en-US" sz="2400" b="1" dirty="0"/>
              <a:t>Testing Data:</a:t>
            </a:r>
            <a:br>
              <a:rPr lang="en-US" sz="2400" dirty="0"/>
            </a:br>
            <a:r>
              <a:rPr lang="en-US" sz="2400" dirty="0"/>
              <a:t>The Machine Learning model is evaluated using the testing dataset.</a:t>
            </a:r>
          </a:p>
          <a:p>
            <a:endParaRPr lang="en-US" sz="2400" dirty="0"/>
          </a:p>
          <a:p>
            <a:endParaRPr lang="en-US" sz="2400" b="1" dirty="0"/>
          </a:p>
          <a:p>
            <a:endParaRPr lang="en-IN" sz="3200" b="1" dirty="0"/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22908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4F7941-9403-F46E-96B4-EDC238E6E072}"/>
              </a:ext>
            </a:extLst>
          </p:cNvPr>
          <p:cNvSpPr txBox="1"/>
          <p:nvPr/>
        </p:nvSpPr>
        <p:spPr>
          <a:xfrm>
            <a:off x="132735" y="103238"/>
            <a:ext cx="11926529" cy="6786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NumPy (Numerical Python)</a:t>
            </a:r>
            <a:endParaRPr lang="en-IN" sz="1000" b="1" dirty="0"/>
          </a:p>
          <a:p>
            <a:endParaRPr lang="en-IN" sz="1000" b="1" dirty="0"/>
          </a:p>
          <a:p>
            <a:r>
              <a:rPr lang="en-IN" sz="3200" dirty="0"/>
              <a:t>Introduction</a:t>
            </a:r>
          </a:p>
          <a:p>
            <a:endParaRPr lang="en-IN" sz="900" dirty="0"/>
          </a:p>
          <a:p>
            <a:r>
              <a:rPr lang="en-US" sz="2000" dirty="0"/>
              <a:t>NumPy stands for Numerical Python.</a:t>
            </a:r>
          </a:p>
          <a:p>
            <a:r>
              <a:rPr lang="en-US" sz="2000" dirty="0"/>
              <a:t>NumPy is an open-source Python library used for scientific and numerical computing.</a:t>
            </a:r>
          </a:p>
          <a:p>
            <a:r>
              <a:rPr lang="en-US" sz="2000" dirty="0"/>
              <a:t>NumPy provides support for large, multi-dimensional arrays and matrices, along with a collection of mathematical functions to operate on these arrays efficiently</a:t>
            </a:r>
          </a:p>
          <a:p>
            <a:r>
              <a:rPr lang="en-US" sz="2000" dirty="0"/>
              <a:t>It forms the foundation for most data science and machine learning libraries, including Pandas, TensorFlow, and Scikit-learn.</a:t>
            </a:r>
          </a:p>
          <a:p>
            <a:endParaRPr lang="en-US" sz="2000" dirty="0"/>
          </a:p>
          <a:p>
            <a:r>
              <a:rPr lang="en-US" sz="3200" dirty="0"/>
              <a:t>Real-Life Applications of NumPy</a:t>
            </a:r>
          </a:p>
          <a:p>
            <a:endParaRPr lang="en-US" sz="1000" dirty="0"/>
          </a:p>
          <a:p>
            <a:r>
              <a:rPr lang="en-US" sz="2200" b="1" dirty="0"/>
              <a:t>Data Analysis:</a:t>
            </a:r>
            <a:r>
              <a:rPr lang="en-US" sz="2200" dirty="0"/>
              <a:t> Handles large numerical datasets efficiently.</a:t>
            </a:r>
          </a:p>
          <a:p>
            <a:r>
              <a:rPr lang="en-US" sz="2200" b="1" dirty="0"/>
              <a:t>Machine Learning:</a:t>
            </a:r>
            <a:r>
              <a:rPr lang="en-US" sz="2200" dirty="0"/>
              <a:t> Used for preprocessing, normalization, and mathematical computations.</a:t>
            </a:r>
          </a:p>
          <a:p>
            <a:r>
              <a:rPr lang="en-US" sz="2200" b="1" dirty="0"/>
              <a:t>Image Processing:</a:t>
            </a:r>
            <a:r>
              <a:rPr lang="en-US" sz="2200" dirty="0"/>
              <a:t> Used in operations like resizing, filtering, and color conversions.</a:t>
            </a:r>
          </a:p>
          <a:p>
            <a:r>
              <a:rPr lang="en-US" sz="2200" b="1" dirty="0"/>
              <a:t>Signal Processing:</a:t>
            </a:r>
            <a:r>
              <a:rPr lang="en-US" sz="2200" dirty="0"/>
              <a:t> Useful in audio and wave analysis.</a:t>
            </a:r>
          </a:p>
          <a:p>
            <a:r>
              <a:rPr lang="en-US" sz="2200" b="1" dirty="0"/>
              <a:t>Scientific Computing:</a:t>
            </a:r>
            <a:r>
              <a:rPr lang="en-US" sz="2200" dirty="0"/>
              <a:t> Performs matrix and linear algebra operations quickly.</a:t>
            </a:r>
          </a:p>
          <a:p>
            <a:endParaRPr lang="en-US" sz="32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41346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F50609-0726-1E28-3AEF-E2F2E02C35BC}"/>
              </a:ext>
            </a:extLst>
          </p:cNvPr>
          <p:cNvSpPr txBox="1"/>
          <p:nvPr/>
        </p:nvSpPr>
        <p:spPr>
          <a:xfrm>
            <a:off x="127819" y="98323"/>
            <a:ext cx="11936361" cy="9510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Working with NumPy in Python:</a:t>
            </a:r>
          </a:p>
          <a:p>
            <a:endParaRPr lang="en-US" sz="900" b="1" dirty="0"/>
          </a:p>
          <a:p>
            <a:r>
              <a:rPr lang="en-US" sz="2800" b="1" dirty="0"/>
              <a:t>#</a:t>
            </a:r>
            <a:r>
              <a:rPr lang="en-IN" sz="2800" b="1" dirty="0"/>
              <a:t>Creating Arrays using NumPy</a:t>
            </a:r>
          </a:p>
          <a:p>
            <a:endParaRPr lang="en-IN" sz="900" b="1" dirty="0"/>
          </a:p>
          <a:p>
            <a:r>
              <a:rPr lang="en-US" sz="2000" dirty="0"/>
              <a:t>import </a:t>
            </a:r>
            <a:r>
              <a:rPr lang="en-US" sz="2000" dirty="0" err="1"/>
              <a:t>numpy</a:t>
            </a:r>
            <a:r>
              <a:rPr lang="en-US" sz="2000" dirty="0"/>
              <a:t> as np                               #Imports the NumPy library and gives it the alias </a:t>
            </a:r>
            <a:r>
              <a:rPr lang="en-US" dirty="0"/>
              <a:t>np</a:t>
            </a:r>
            <a:r>
              <a:rPr lang="en-US" sz="2000" dirty="0"/>
              <a:t> for convenience.</a:t>
            </a:r>
          </a:p>
          <a:p>
            <a:r>
              <a:rPr lang="en-US" sz="2000" dirty="0"/>
              <a:t>arr1 = </a:t>
            </a:r>
            <a:r>
              <a:rPr lang="en-US" sz="2000" dirty="0" err="1"/>
              <a:t>np.array</a:t>
            </a:r>
            <a:r>
              <a:rPr lang="en-US" sz="2000" dirty="0"/>
              <a:t>([1, 2, 3, 4, 5])                #Creating a 1D array ,</a:t>
            </a:r>
            <a:r>
              <a:rPr lang="en-US" b="1" dirty="0"/>
              <a:t> </a:t>
            </a:r>
            <a:r>
              <a:rPr lang="en-US" dirty="0" err="1"/>
              <a:t>np.array</a:t>
            </a:r>
            <a:r>
              <a:rPr lang="en-US" dirty="0"/>
              <a:t>( )</a:t>
            </a:r>
            <a:r>
              <a:rPr lang="en-US" sz="2000" dirty="0"/>
              <a:t>→ Converts a Python list into a NumPy array.                             </a:t>
            </a:r>
          </a:p>
          <a:p>
            <a:r>
              <a:rPr lang="en-US" sz="2000" dirty="0"/>
              <a:t>arr2 = </a:t>
            </a:r>
            <a:r>
              <a:rPr lang="en-US" sz="2000" dirty="0" err="1"/>
              <a:t>np.array</a:t>
            </a:r>
            <a:r>
              <a:rPr lang="en-US" sz="2000" dirty="0"/>
              <a:t>([[1, 2, 3], [4, 5, 6]])      #Creating a 2D array</a:t>
            </a:r>
          </a:p>
          <a:p>
            <a:r>
              <a:rPr lang="en-US" sz="2000" dirty="0"/>
              <a:t>print("1D Array:", arr1)</a:t>
            </a:r>
          </a:p>
          <a:p>
            <a:r>
              <a:rPr lang="en-US" sz="2000" dirty="0"/>
              <a:t>print("2D Array:\n", arr2)</a:t>
            </a:r>
          </a:p>
          <a:p>
            <a:endParaRPr lang="en-US" sz="2000" dirty="0"/>
          </a:p>
          <a:p>
            <a:r>
              <a:rPr lang="en-US" sz="2000" b="1" dirty="0"/>
              <a:t>OUTPUT:</a:t>
            </a:r>
          </a:p>
          <a:p>
            <a:r>
              <a:rPr lang="en-US" sz="2000" dirty="0"/>
              <a:t>1D Array: [1 2 3 4 5]</a:t>
            </a:r>
          </a:p>
          <a:p>
            <a:r>
              <a:rPr lang="en-US" sz="2000" dirty="0"/>
              <a:t>2D Array:</a:t>
            </a:r>
          </a:p>
          <a:p>
            <a:r>
              <a:rPr lang="en-US" sz="2000" dirty="0"/>
              <a:t> [[1 2 3]</a:t>
            </a:r>
          </a:p>
          <a:p>
            <a:r>
              <a:rPr lang="en-US" sz="2000" dirty="0"/>
              <a:t>  [4 5 6]]</a:t>
            </a:r>
          </a:p>
          <a:p>
            <a:endParaRPr lang="en-US" sz="1000" dirty="0"/>
          </a:p>
          <a:p>
            <a:r>
              <a:rPr lang="en-US" sz="2800" b="1" dirty="0"/>
              <a:t>#Initializing </a:t>
            </a:r>
            <a:r>
              <a:rPr lang="en-US" sz="2800" b="1" dirty="0" err="1"/>
              <a:t>Numpy</a:t>
            </a:r>
            <a:r>
              <a:rPr lang="en-US" sz="2800" b="1" dirty="0"/>
              <a:t> array with random numbers</a:t>
            </a:r>
          </a:p>
          <a:p>
            <a:endParaRPr lang="en-US" sz="800" b="1" dirty="0"/>
          </a:p>
          <a:p>
            <a:r>
              <a:rPr lang="en-US" sz="2000" dirty="0"/>
              <a:t>Import </a:t>
            </a:r>
            <a:r>
              <a:rPr lang="en-US" sz="2000" dirty="0" err="1"/>
              <a:t>numpy</a:t>
            </a:r>
            <a:r>
              <a:rPr lang="en-US" sz="2000" dirty="0"/>
              <a:t> as np</a:t>
            </a:r>
          </a:p>
          <a:p>
            <a:r>
              <a:rPr lang="en-US" sz="2000" dirty="0"/>
              <a:t>n1=</a:t>
            </a:r>
            <a:r>
              <a:rPr lang="en-US" sz="2000" dirty="0" err="1"/>
              <a:t>np.random.randit</a:t>
            </a:r>
            <a:r>
              <a:rPr lang="en-US" sz="2000" dirty="0"/>
              <a:t>(1,100,5)              #</a:t>
            </a:r>
            <a:r>
              <a:rPr lang="en-US" b="1" dirty="0"/>
              <a:t>np.random.randint()</a:t>
            </a:r>
            <a:r>
              <a:rPr lang="en-US" sz="2000" dirty="0"/>
              <a:t> -This function generates </a:t>
            </a:r>
            <a:r>
              <a:rPr lang="en-US" sz="2000" b="1" dirty="0"/>
              <a:t>random integers</a:t>
            </a:r>
            <a:endParaRPr lang="en-US" sz="2000" dirty="0"/>
          </a:p>
          <a:p>
            <a:r>
              <a:rPr lang="en-US" sz="2000" dirty="0"/>
              <a:t>n1                                                                 within a specified range</a:t>
            </a:r>
            <a:br>
              <a:rPr lang="en-US" sz="2000" dirty="0"/>
            </a:br>
            <a:r>
              <a:rPr lang="en-US" sz="2000" b="1" dirty="0" err="1"/>
              <a:t>OUTPUT:</a:t>
            </a:r>
            <a:r>
              <a:rPr lang="en-US" sz="2000" dirty="0" err="1"/>
              <a:t>array</a:t>
            </a:r>
            <a:r>
              <a:rPr lang="en-US" sz="2000" dirty="0"/>
              <a:t>([95,88,26,22,76])</a:t>
            </a:r>
            <a:endParaRPr lang="en-US" sz="2000" b="1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800" b="1" dirty="0"/>
          </a:p>
          <a:p>
            <a:r>
              <a:rPr lang="en-US" sz="2000" dirty="0"/>
              <a:t>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050302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7C08EE-BDCD-5E84-AA9E-08E5F9778129}"/>
              </a:ext>
            </a:extLst>
          </p:cNvPr>
          <p:cNvSpPr txBox="1"/>
          <p:nvPr/>
        </p:nvSpPr>
        <p:spPr>
          <a:xfrm>
            <a:off x="176980" y="100781"/>
            <a:ext cx="11838039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# Column Stacking in NumPy</a:t>
            </a:r>
          </a:p>
          <a:p>
            <a:endParaRPr lang="en-IN" sz="1000" b="1" dirty="0"/>
          </a:p>
          <a:p>
            <a:r>
              <a:rPr lang="en-US" sz="2000" dirty="0"/>
              <a:t>import </a:t>
            </a:r>
            <a:r>
              <a:rPr lang="en-US" sz="2000" dirty="0" err="1"/>
              <a:t>numpy</a:t>
            </a:r>
            <a:r>
              <a:rPr lang="en-US" sz="2000" dirty="0"/>
              <a:t> as np</a:t>
            </a:r>
          </a:p>
          <a:p>
            <a:r>
              <a:rPr lang="en-US" sz="2000" dirty="0"/>
              <a:t>a = </a:t>
            </a:r>
            <a:r>
              <a:rPr lang="en-US" sz="2000" dirty="0" err="1"/>
              <a:t>np.array</a:t>
            </a:r>
            <a:r>
              <a:rPr lang="en-US" sz="2000" dirty="0"/>
              <a:t>([1, 2, 3])</a:t>
            </a:r>
          </a:p>
          <a:p>
            <a:r>
              <a:rPr lang="en-US" sz="2000" dirty="0"/>
              <a:t>b = </a:t>
            </a:r>
            <a:r>
              <a:rPr lang="en-US" sz="2000" dirty="0" err="1"/>
              <a:t>np.array</a:t>
            </a:r>
            <a:r>
              <a:rPr lang="en-US" sz="2000" dirty="0"/>
              <a:t>([4, 5, 6])</a:t>
            </a:r>
          </a:p>
          <a:p>
            <a:r>
              <a:rPr lang="en-US" sz="2000" dirty="0"/>
              <a:t>result = </a:t>
            </a:r>
            <a:r>
              <a:rPr lang="en-US" sz="2000" dirty="0" err="1"/>
              <a:t>np.column_stack</a:t>
            </a:r>
            <a:r>
              <a:rPr lang="en-US" sz="2000" dirty="0"/>
              <a:t>((a, b))               #np.column_stack((a,b))-combines the arrays as columns to form a                      print(result)                                                    2darray</a:t>
            </a:r>
          </a:p>
          <a:p>
            <a:endParaRPr lang="en-IN" sz="1000" b="1" dirty="0"/>
          </a:p>
          <a:p>
            <a:r>
              <a:rPr lang="en-IN" sz="2000" b="1" dirty="0"/>
              <a:t>OUTPUT:</a:t>
            </a:r>
          </a:p>
          <a:p>
            <a:r>
              <a:rPr lang="en-IN" sz="2000" dirty="0"/>
              <a:t>[[1 4]</a:t>
            </a:r>
          </a:p>
          <a:p>
            <a:r>
              <a:rPr lang="en-IN" sz="2000" dirty="0"/>
              <a:t> [2 5]</a:t>
            </a:r>
          </a:p>
          <a:p>
            <a:r>
              <a:rPr lang="en-IN" sz="2000" dirty="0"/>
              <a:t> [3 6]]</a:t>
            </a:r>
          </a:p>
          <a:p>
            <a:endParaRPr lang="en-IN" sz="1000" b="1" dirty="0"/>
          </a:p>
          <a:p>
            <a:r>
              <a:rPr lang="en-IN" sz="3200" b="1" dirty="0"/>
              <a:t>#Joining NumPy array </a:t>
            </a:r>
            <a:r>
              <a:rPr lang="en-IN" sz="3200" b="1" dirty="0" err="1"/>
              <a:t>vstack</a:t>
            </a:r>
            <a:r>
              <a:rPr lang="en-IN" sz="3200" b="1" dirty="0"/>
              <a:t>(),</a:t>
            </a:r>
            <a:r>
              <a:rPr lang="en-IN" sz="3200" b="1" dirty="0" err="1"/>
              <a:t>hstack</a:t>
            </a:r>
            <a:r>
              <a:rPr lang="en-IN" sz="3200" b="1" dirty="0"/>
              <a:t>()</a:t>
            </a:r>
          </a:p>
          <a:p>
            <a:endParaRPr lang="en-IN" sz="800" b="1" dirty="0"/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arr1 = </a:t>
            </a:r>
            <a:r>
              <a:rPr lang="en-IN" sz="2000" dirty="0" err="1"/>
              <a:t>np.array</a:t>
            </a:r>
            <a:r>
              <a:rPr lang="en-IN" sz="2000" dirty="0"/>
              <a:t>([1, 2, 3])</a:t>
            </a:r>
          </a:p>
          <a:p>
            <a:r>
              <a:rPr lang="en-IN" sz="2000" dirty="0"/>
              <a:t>arr2 = </a:t>
            </a:r>
            <a:r>
              <a:rPr lang="en-IN" sz="2000" dirty="0" err="1"/>
              <a:t>np.array</a:t>
            </a:r>
            <a:r>
              <a:rPr lang="en-IN" sz="2000" dirty="0"/>
              <a:t>([4, 5, 6])</a:t>
            </a:r>
          </a:p>
          <a:p>
            <a:r>
              <a:rPr lang="en-IN" sz="2000" dirty="0"/>
              <a:t>v = </a:t>
            </a:r>
            <a:r>
              <a:rPr lang="en-IN" sz="2000" dirty="0" err="1"/>
              <a:t>np.vstack</a:t>
            </a:r>
            <a:r>
              <a:rPr lang="en-IN" sz="2000" dirty="0"/>
              <a:t>((arr1, arr2))                        #</a:t>
            </a:r>
            <a:r>
              <a:rPr lang="en-US" sz="2000" dirty="0"/>
              <a:t>Joins the arrays vertically (row-wise)</a:t>
            </a:r>
            <a:endParaRPr lang="en-IN" sz="2000" dirty="0"/>
          </a:p>
          <a:p>
            <a:r>
              <a:rPr lang="en-IN" sz="2000" dirty="0"/>
              <a:t>h = </a:t>
            </a:r>
            <a:r>
              <a:rPr lang="en-IN" sz="2000" dirty="0" err="1"/>
              <a:t>np.hstack</a:t>
            </a:r>
            <a:r>
              <a:rPr lang="en-IN" sz="2000" dirty="0"/>
              <a:t>((arr1, arr2))                       #</a:t>
            </a:r>
            <a:r>
              <a:rPr lang="en-US" sz="2000" dirty="0"/>
              <a:t>Joins the arrays horizontally (column-wise)</a:t>
            </a:r>
            <a:endParaRPr lang="en-IN" sz="2000" dirty="0"/>
          </a:p>
          <a:p>
            <a:r>
              <a:rPr lang="en-IN" sz="2000" dirty="0"/>
              <a:t>print("Vertical Stack:\n", v)</a:t>
            </a:r>
          </a:p>
          <a:p>
            <a:r>
              <a:rPr lang="en-IN" sz="2000" dirty="0"/>
              <a:t>print("Horizontal Stack:\n", h)</a:t>
            </a:r>
          </a:p>
          <a:p>
            <a:endParaRPr lang="en-IN" sz="800" b="1" dirty="0"/>
          </a:p>
        </p:txBody>
      </p:sp>
    </p:spTree>
    <p:extLst>
      <p:ext uri="{BB962C8B-B14F-4D97-AF65-F5344CB8AC3E}">
        <p14:creationId xmlns:p14="http://schemas.microsoft.com/office/powerpoint/2010/main" val="1929015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2C84D9-FCA2-0DFC-11A0-B639B875F749}"/>
              </a:ext>
            </a:extLst>
          </p:cNvPr>
          <p:cNvSpPr txBox="1"/>
          <p:nvPr/>
        </p:nvSpPr>
        <p:spPr>
          <a:xfrm>
            <a:off x="0" y="335845"/>
            <a:ext cx="1197569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OUTPUT:</a:t>
            </a:r>
          </a:p>
          <a:p>
            <a:r>
              <a:rPr lang="en-US" sz="2000" dirty="0"/>
              <a:t>Vertical Stack:</a:t>
            </a:r>
          </a:p>
          <a:p>
            <a:r>
              <a:rPr lang="en-US" sz="2000" dirty="0"/>
              <a:t>[[1 2 3]</a:t>
            </a:r>
          </a:p>
          <a:p>
            <a:r>
              <a:rPr lang="en-US" sz="2000" dirty="0"/>
              <a:t> [4 5 6]]</a:t>
            </a:r>
          </a:p>
          <a:p>
            <a:r>
              <a:rPr lang="en-US" sz="2000" dirty="0"/>
              <a:t>Horizontal Stack:</a:t>
            </a:r>
          </a:p>
          <a:p>
            <a:r>
              <a:rPr lang="en-US" sz="2000" dirty="0"/>
              <a:t>[1 2 3 4 5 6]</a:t>
            </a:r>
          </a:p>
          <a:p>
            <a:endParaRPr lang="en-US" sz="800" dirty="0"/>
          </a:p>
          <a:p>
            <a:r>
              <a:rPr lang="en-US" sz="3200" b="1" dirty="0"/>
              <a:t>#Finding the Shape of an Array using NumPy</a:t>
            </a:r>
          </a:p>
          <a:p>
            <a:endParaRPr lang="en-US" sz="800" b="1" dirty="0"/>
          </a:p>
          <a:p>
            <a:r>
              <a:rPr lang="en-US" sz="2000" dirty="0"/>
              <a:t>import </a:t>
            </a:r>
            <a:r>
              <a:rPr lang="en-US" sz="2000" dirty="0" err="1"/>
              <a:t>numpy</a:t>
            </a:r>
            <a:r>
              <a:rPr lang="en-US" sz="2000" dirty="0"/>
              <a:t> as np</a:t>
            </a:r>
          </a:p>
          <a:p>
            <a:r>
              <a:rPr lang="en-US" sz="2000" dirty="0" err="1"/>
              <a:t>arr</a:t>
            </a:r>
            <a:r>
              <a:rPr lang="en-US" sz="2000" dirty="0"/>
              <a:t> = </a:t>
            </a:r>
            <a:r>
              <a:rPr lang="en-US" sz="2000" dirty="0" err="1"/>
              <a:t>np.array</a:t>
            </a:r>
            <a:r>
              <a:rPr lang="en-US" sz="2000" dirty="0"/>
              <a:t>([[1, 2, 3],</a:t>
            </a:r>
          </a:p>
          <a:p>
            <a:r>
              <a:rPr lang="en-US" sz="2000" dirty="0"/>
              <a:t>                [4, 5, 6]])</a:t>
            </a:r>
          </a:p>
          <a:p>
            <a:r>
              <a:rPr lang="en-US" sz="2000" dirty="0"/>
              <a:t>print("Shape of the array:", </a:t>
            </a:r>
            <a:r>
              <a:rPr lang="en-US" sz="2000" dirty="0" err="1"/>
              <a:t>arr.shape</a:t>
            </a:r>
            <a:r>
              <a:rPr lang="en-US" sz="2000" dirty="0"/>
              <a:t>)          #Returns a tuple representing the dimensions of the array</a:t>
            </a:r>
          </a:p>
          <a:p>
            <a:r>
              <a:rPr lang="en-US" sz="2000" b="1" dirty="0" err="1"/>
              <a:t>OUTPUT:</a:t>
            </a:r>
            <a:r>
              <a:rPr lang="en-US" sz="2000" dirty="0" err="1"/>
              <a:t>Shape</a:t>
            </a:r>
            <a:r>
              <a:rPr lang="en-US" sz="2000" dirty="0"/>
              <a:t> of the array: (2, 3)</a:t>
            </a:r>
          </a:p>
          <a:p>
            <a:endParaRPr lang="en-US" sz="800" b="1" dirty="0"/>
          </a:p>
          <a:p>
            <a:r>
              <a:rPr lang="en-US" sz="3200" b="1" dirty="0"/>
              <a:t>#Initializing NumPy with zeroes</a:t>
            </a:r>
          </a:p>
          <a:p>
            <a:endParaRPr lang="en-US" sz="800" b="1" dirty="0"/>
          </a:p>
          <a:p>
            <a:r>
              <a:rPr lang="en-US" sz="2000" dirty="0"/>
              <a:t>Import </a:t>
            </a:r>
            <a:r>
              <a:rPr lang="en-US" sz="2000" dirty="0" err="1"/>
              <a:t>numpy</a:t>
            </a:r>
            <a:r>
              <a:rPr lang="en-US" sz="2000" dirty="0"/>
              <a:t> as np</a:t>
            </a:r>
          </a:p>
          <a:p>
            <a:r>
              <a:rPr lang="en-US" sz="2000" dirty="0"/>
              <a:t>n1=</a:t>
            </a:r>
            <a:r>
              <a:rPr lang="en-US" sz="2000" dirty="0" err="1"/>
              <a:t>np.zeroes</a:t>
            </a:r>
            <a:r>
              <a:rPr lang="en-US" sz="2000" dirty="0"/>
              <a:t>((1,2))</a:t>
            </a:r>
          </a:p>
          <a:p>
            <a:r>
              <a:rPr lang="en-US" sz="2000" dirty="0"/>
              <a:t>n1</a:t>
            </a:r>
          </a:p>
          <a:p>
            <a:r>
              <a:rPr lang="en-US" sz="2000" b="1" dirty="0" err="1"/>
              <a:t>OUTPUT:</a:t>
            </a:r>
            <a:r>
              <a:rPr lang="en-US" sz="2000" dirty="0" err="1"/>
              <a:t>array</a:t>
            </a:r>
            <a:r>
              <a:rPr lang="en-US" sz="2000" dirty="0"/>
              <a:t>([[0.,0.]])</a:t>
            </a:r>
          </a:p>
        </p:txBody>
      </p:sp>
    </p:spTree>
    <p:extLst>
      <p:ext uri="{BB962C8B-B14F-4D97-AF65-F5344CB8AC3E}">
        <p14:creationId xmlns:p14="http://schemas.microsoft.com/office/powerpoint/2010/main" val="4141501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06DD85-884E-9AFB-81C9-C8CA6AEB2583}"/>
              </a:ext>
            </a:extLst>
          </p:cNvPr>
          <p:cNvSpPr txBox="1"/>
          <p:nvPr/>
        </p:nvSpPr>
        <p:spPr>
          <a:xfrm>
            <a:off x="98323" y="186813"/>
            <a:ext cx="11906864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#INITIALIZING NumPy ARRAY WITH SAME NUMBER</a:t>
            </a:r>
          </a:p>
          <a:p>
            <a:endParaRPr lang="en-IN" sz="800" b="1" dirty="0"/>
          </a:p>
          <a:p>
            <a:r>
              <a:rPr lang="en-IN" sz="2000" dirty="0"/>
              <a:t> 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 n1=</a:t>
            </a:r>
            <a:r>
              <a:rPr lang="en-IN" sz="2000" dirty="0" err="1"/>
              <a:t>np.full</a:t>
            </a:r>
            <a:r>
              <a:rPr lang="en-IN" sz="2000" dirty="0"/>
              <a:t>((2,2),10)</a:t>
            </a:r>
          </a:p>
          <a:p>
            <a:r>
              <a:rPr lang="en-IN" sz="2000" dirty="0"/>
              <a:t> n1</a:t>
            </a:r>
          </a:p>
          <a:p>
            <a:r>
              <a:rPr lang="en-IN" sz="2000" b="1" dirty="0"/>
              <a:t> </a:t>
            </a:r>
            <a:r>
              <a:rPr lang="en-IN" sz="2000" b="1" dirty="0" err="1"/>
              <a:t>OUTPUT</a:t>
            </a:r>
            <a:r>
              <a:rPr lang="en-IN" sz="2000" dirty="0" err="1"/>
              <a:t>:array</a:t>
            </a:r>
            <a:r>
              <a:rPr lang="en-IN" sz="2000" dirty="0"/>
              <a:t>([10,10],</a:t>
            </a:r>
          </a:p>
          <a:p>
            <a:r>
              <a:rPr lang="en-IN" sz="2000" dirty="0"/>
              <a:t>                            [10,10]])</a:t>
            </a:r>
          </a:p>
          <a:p>
            <a:endParaRPr lang="en-IN" sz="2000" dirty="0"/>
          </a:p>
          <a:p>
            <a:r>
              <a:rPr lang="en-IN" sz="3200" b="1" dirty="0"/>
              <a:t>#INITIALIZING NumPy ARRAY WITHIN A RAGE</a:t>
            </a:r>
          </a:p>
          <a:p>
            <a:endParaRPr lang="en-IN" sz="800" b="1" dirty="0"/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n1=</a:t>
            </a:r>
            <a:r>
              <a:rPr lang="en-IN" sz="2000" dirty="0" err="1"/>
              <a:t>np.arrange</a:t>
            </a:r>
            <a:r>
              <a:rPr lang="en-IN" sz="2000" dirty="0"/>
              <a:t>(10,50,5)</a:t>
            </a:r>
          </a:p>
          <a:p>
            <a:r>
              <a:rPr lang="en-IN" sz="2000" dirty="0"/>
              <a:t>n1</a:t>
            </a:r>
          </a:p>
          <a:p>
            <a:r>
              <a:rPr lang="en-IN" sz="2000" b="1" dirty="0" err="1"/>
              <a:t>OUTPUT:</a:t>
            </a:r>
            <a:r>
              <a:rPr lang="en-IN" sz="2000" dirty="0" err="1"/>
              <a:t>array</a:t>
            </a:r>
            <a:r>
              <a:rPr lang="en-IN" sz="2000" dirty="0"/>
              <a:t>([10,15,20,25,30,35,40,45])</a:t>
            </a:r>
          </a:p>
          <a:p>
            <a:endParaRPr lang="en-IN" sz="900" dirty="0"/>
          </a:p>
          <a:p>
            <a:r>
              <a:rPr lang="en-IN" sz="3200" b="1" dirty="0"/>
              <a:t>#NumPy INSERTION</a:t>
            </a:r>
          </a:p>
          <a:p>
            <a:endParaRPr lang="en-IN" sz="900" dirty="0"/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n1=</a:t>
            </a:r>
            <a:r>
              <a:rPr lang="en-IN" sz="2000" dirty="0" err="1"/>
              <a:t>np.array</a:t>
            </a:r>
            <a:r>
              <a:rPr lang="en-IN" sz="2000" dirty="0"/>
              <a:t>([10,20,30,40,50,60])</a:t>
            </a:r>
          </a:p>
          <a:p>
            <a:r>
              <a:rPr lang="en-IN" sz="2000" dirty="0"/>
              <a:t>n2=</a:t>
            </a:r>
            <a:r>
              <a:rPr lang="en-IN" sz="2000" dirty="0" err="1"/>
              <a:t>np.array</a:t>
            </a:r>
            <a:r>
              <a:rPr lang="en-IN" sz="2000" dirty="0"/>
              <a:t>([50,60,70,80,90])</a:t>
            </a:r>
          </a:p>
          <a:p>
            <a:r>
              <a:rPr lang="en-IN" sz="2000" dirty="0"/>
              <a:t>np.intersect1d(n1,n2)</a:t>
            </a:r>
          </a:p>
          <a:p>
            <a:r>
              <a:rPr lang="en-IN" sz="2000" b="1" dirty="0" err="1"/>
              <a:t>OUTPUT</a:t>
            </a:r>
            <a:r>
              <a:rPr lang="en-IN" sz="2000" dirty="0" err="1"/>
              <a:t>:array</a:t>
            </a:r>
            <a:r>
              <a:rPr lang="en-IN" sz="2000" dirty="0"/>
              <a:t>([50,60])</a:t>
            </a:r>
          </a:p>
        </p:txBody>
      </p:sp>
    </p:spTree>
    <p:extLst>
      <p:ext uri="{BB962C8B-B14F-4D97-AF65-F5344CB8AC3E}">
        <p14:creationId xmlns:p14="http://schemas.microsoft.com/office/powerpoint/2010/main" val="2467609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A1AD28-5B88-A4A0-1B69-01A3C91C7ED4}"/>
              </a:ext>
            </a:extLst>
          </p:cNvPr>
          <p:cNvSpPr txBox="1"/>
          <p:nvPr/>
        </p:nvSpPr>
        <p:spPr>
          <a:xfrm>
            <a:off x="68826" y="167148"/>
            <a:ext cx="12044516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#NumPy DIFFERENCE</a:t>
            </a:r>
          </a:p>
          <a:p>
            <a:endParaRPr lang="en-IN" sz="900" dirty="0"/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n1=</a:t>
            </a:r>
            <a:r>
              <a:rPr lang="en-IN" sz="2000" dirty="0" err="1"/>
              <a:t>np.array</a:t>
            </a:r>
            <a:r>
              <a:rPr lang="en-IN" sz="2000" dirty="0"/>
              <a:t>([10,20,30,40,50,60])</a:t>
            </a:r>
          </a:p>
          <a:p>
            <a:r>
              <a:rPr lang="en-IN" sz="2000" dirty="0"/>
              <a:t>n2=</a:t>
            </a:r>
            <a:r>
              <a:rPr lang="en-IN" sz="2000" dirty="0" err="1"/>
              <a:t>np.array</a:t>
            </a:r>
            <a:r>
              <a:rPr lang="en-IN" sz="2000" dirty="0"/>
              <a:t>([50,60,70,80,90])</a:t>
            </a:r>
          </a:p>
          <a:p>
            <a:r>
              <a:rPr lang="en-IN" sz="2000" dirty="0"/>
              <a:t>np.setdiff1d(n1,n2)</a:t>
            </a:r>
          </a:p>
          <a:p>
            <a:r>
              <a:rPr lang="en-IN" sz="2000" b="1" dirty="0" err="1"/>
              <a:t>OUTPUT:</a:t>
            </a:r>
            <a:r>
              <a:rPr lang="en-IN" sz="2000" dirty="0" err="1"/>
              <a:t>array</a:t>
            </a:r>
            <a:r>
              <a:rPr lang="en-IN" sz="2000" dirty="0"/>
              <a:t>([10,20,30,40])</a:t>
            </a:r>
          </a:p>
          <a:p>
            <a:endParaRPr lang="en-IN" sz="1000" dirty="0"/>
          </a:p>
          <a:p>
            <a:r>
              <a:rPr lang="en-IN" sz="3200" b="1" dirty="0"/>
              <a:t>#NumPy ADDITION </a:t>
            </a:r>
          </a:p>
          <a:p>
            <a:endParaRPr lang="en-IN" sz="900" b="1" dirty="0"/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n1=</a:t>
            </a:r>
            <a:r>
              <a:rPr lang="en-IN" sz="2000" dirty="0" err="1"/>
              <a:t>np.array</a:t>
            </a:r>
            <a:r>
              <a:rPr lang="en-IN" sz="2000" dirty="0"/>
              <a:t>([10,20])</a:t>
            </a:r>
          </a:p>
          <a:p>
            <a:r>
              <a:rPr lang="en-IN" sz="2000" dirty="0"/>
              <a:t>n2=</a:t>
            </a:r>
            <a:r>
              <a:rPr lang="en-IN" sz="2000" dirty="0" err="1"/>
              <a:t>np.array</a:t>
            </a:r>
            <a:r>
              <a:rPr lang="en-IN" sz="2000" dirty="0"/>
              <a:t>([30,40])</a:t>
            </a:r>
          </a:p>
          <a:p>
            <a:r>
              <a:rPr lang="en-IN" sz="2000" dirty="0" err="1"/>
              <a:t>np.sum</a:t>
            </a:r>
            <a:r>
              <a:rPr lang="en-IN" sz="2000" dirty="0"/>
              <a:t>([n1,n2])</a:t>
            </a:r>
          </a:p>
          <a:p>
            <a:r>
              <a:rPr lang="en-IN" sz="2000" b="1" dirty="0"/>
              <a:t>OUTPUT:</a:t>
            </a:r>
            <a:r>
              <a:rPr lang="en-IN" sz="2000" dirty="0"/>
              <a:t>100</a:t>
            </a:r>
          </a:p>
          <a:p>
            <a:r>
              <a:rPr lang="en-IN" sz="2000" dirty="0" err="1"/>
              <a:t>np.sum</a:t>
            </a:r>
            <a:r>
              <a:rPr lang="en-IN" sz="2000" dirty="0"/>
              <a:t>([n1,n2],axis=0)</a:t>
            </a:r>
          </a:p>
          <a:p>
            <a:r>
              <a:rPr lang="en-IN" sz="2000" b="1" dirty="0" err="1"/>
              <a:t>OUTPUT:</a:t>
            </a:r>
            <a:r>
              <a:rPr lang="en-IN" sz="2000" dirty="0" err="1"/>
              <a:t>array</a:t>
            </a:r>
            <a:r>
              <a:rPr lang="en-IN" sz="2000" dirty="0"/>
              <a:t>([40,60])</a:t>
            </a:r>
          </a:p>
          <a:p>
            <a:endParaRPr lang="en-IN" sz="1000" dirty="0"/>
          </a:p>
          <a:p>
            <a:r>
              <a:rPr lang="en-IN" sz="2000" dirty="0" err="1"/>
              <a:t>np.sum</a:t>
            </a:r>
            <a:r>
              <a:rPr lang="en-IN" sz="2000" dirty="0"/>
              <a:t>([n1,n2],axis=1)</a:t>
            </a:r>
          </a:p>
          <a:p>
            <a:r>
              <a:rPr lang="en-IN" sz="2000" b="1" dirty="0" err="1"/>
              <a:t>OUTPUT:</a:t>
            </a:r>
            <a:r>
              <a:rPr lang="en-IN" sz="2000" dirty="0" err="1"/>
              <a:t>array</a:t>
            </a:r>
            <a:r>
              <a:rPr lang="en-IN" sz="2000" dirty="0"/>
              <a:t>([30,70])</a:t>
            </a:r>
          </a:p>
        </p:txBody>
      </p:sp>
    </p:spTree>
    <p:extLst>
      <p:ext uri="{BB962C8B-B14F-4D97-AF65-F5344CB8AC3E}">
        <p14:creationId xmlns:p14="http://schemas.microsoft.com/office/powerpoint/2010/main" val="2728248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97DC22-7180-20AB-0E1A-4F315C4DEE5A}"/>
              </a:ext>
            </a:extLst>
          </p:cNvPr>
          <p:cNvSpPr txBox="1"/>
          <p:nvPr/>
        </p:nvSpPr>
        <p:spPr>
          <a:xfrm>
            <a:off x="0" y="82281"/>
            <a:ext cx="11965858" cy="7155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#NumPy Array Mathematics:</a:t>
            </a:r>
          </a:p>
          <a:p>
            <a:endParaRPr lang="en-IN" sz="900" b="1" dirty="0"/>
          </a:p>
          <a:p>
            <a:r>
              <a:rPr lang="en-IN" sz="2300" b="1" dirty="0"/>
              <a:t>BASIC ADDITION</a:t>
            </a:r>
          </a:p>
          <a:p>
            <a:endParaRPr lang="en-IN" sz="800" b="1" dirty="0"/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N1=</a:t>
            </a:r>
            <a:r>
              <a:rPr lang="en-IN" sz="2000" dirty="0" err="1"/>
              <a:t>np.array</a:t>
            </a:r>
            <a:r>
              <a:rPr lang="en-IN" sz="2000" dirty="0"/>
              <a:t>([10,20,30])</a:t>
            </a:r>
          </a:p>
          <a:p>
            <a:r>
              <a:rPr lang="en-IN" sz="2000" dirty="0"/>
              <a:t>n1=n1+1</a:t>
            </a:r>
          </a:p>
          <a:p>
            <a:r>
              <a:rPr lang="en-IN" sz="2000" dirty="0"/>
              <a:t>N1</a:t>
            </a:r>
          </a:p>
          <a:p>
            <a:r>
              <a:rPr lang="en-IN" sz="2000" dirty="0" err="1"/>
              <a:t>OUTPUT:array</a:t>
            </a:r>
            <a:r>
              <a:rPr lang="en-IN" sz="2000" dirty="0"/>
              <a:t>([11,21,31])</a:t>
            </a:r>
          </a:p>
          <a:p>
            <a:endParaRPr lang="en-IN" sz="800" dirty="0"/>
          </a:p>
          <a:p>
            <a:r>
              <a:rPr lang="en-IN" sz="2300" b="1" dirty="0"/>
              <a:t>BASIC MULTIPLICATION</a:t>
            </a:r>
          </a:p>
          <a:p>
            <a:endParaRPr lang="en-IN" sz="800" b="1" dirty="0"/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n1=</a:t>
            </a:r>
            <a:r>
              <a:rPr lang="en-IN" sz="2000" dirty="0" err="1"/>
              <a:t>np.array</a:t>
            </a:r>
            <a:r>
              <a:rPr lang="en-IN" sz="2000" dirty="0"/>
              <a:t>([10,20,30])</a:t>
            </a:r>
          </a:p>
          <a:p>
            <a:r>
              <a:rPr lang="en-IN" sz="2000" dirty="0"/>
              <a:t>n1=n1*2</a:t>
            </a:r>
          </a:p>
          <a:p>
            <a:r>
              <a:rPr lang="en-IN" sz="2000" dirty="0"/>
              <a:t>n1</a:t>
            </a:r>
          </a:p>
          <a:p>
            <a:r>
              <a:rPr lang="en-IN" sz="2000" b="1" dirty="0" err="1"/>
              <a:t>OUTPUT:</a:t>
            </a:r>
            <a:r>
              <a:rPr lang="en-IN" sz="2000" dirty="0" err="1"/>
              <a:t>array</a:t>
            </a:r>
            <a:r>
              <a:rPr lang="en-IN" sz="2000" dirty="0"/>
              <a:t>([20,40,60])</a:t>
            </a:r>
            <a:endParaRPr lang="en-IN" sz="800" dirty="0"/>
          </a:p>
          <a:p>
            <a:r>
              <a:rPr lang="en-IN" sz="2300" b="1" dirty="0"/>
              <a:t>BASIC SUBTRACTION</a:t>
            </a:r>
          </a:p>
          <a:p>
            <a:endParaRPr lang="en-IN" sz="800" b="1" dirty="0"/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n1=</a:t>
            </a:r>
            <a:r>
              <a:rPr lang="en-IN" sz="2000" dirty="0" err="1"/>
              <a:t>np.array</a:t>
            </a:r>
            <a:r>
              <a:rPr lang="en-IN" sz="2000" dirty="0"/>
              <a:t>([10,20,30])</a:t>
            </a:r>
          </a:p>
          <a:p>
            <a:r>
              <a:rPr lang="en-IN" sz="2000" dirty="0"/>
              <a:t>n1=n1-1</a:t>
            </a:r>
          </a:p>
          <a:p>
            <a:r>
              <a:rPr lang="en-IN" sz="2000" dirty="0"/>
              <a:t>n1</a:t>
            </a:r>
          </a:p>
          <a:p>
            <a:r>
              <a:rPr lang="en-IN" sz="2000" b="1" dirty="0" err="1"/>
              <a:t>OUTPUT:</a:t>
            </a:r>
            <a:r>
              <a:rPr lang="en-IN" sz="2000" dirty="0" err="1"/>
              <a:t>array</a:t>
            </a:r>
            <a:r>
              <a:rPr lang="en-IN" sz="2000" dirty="0"/>
              <a:t>([9,19,29])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583972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EA1D6E-3D19-2A15-0F4D-96B236E7BB4C}"/>
              </a:ext>
            </a:extLst>
          </p:cNvPr>
          <p:cNvSpPr txBox="1"/>
          <p:nvPr/>
        </p:nvSpPr>
        <p:spPr>
          <a:xfrm>
            <a:off x="68826" y="176981"/>
            <a:ext cx="12005187" cy="694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/>
              <a:t>BASIC DIVISION</a:t>
            </a:r>
          </a:p>
          <a:p>
            <a:endParaRPr lang="en-IN" sz="800" b="1" dirty="0"/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n1=</a:t>
            </a:r>
            <a:r>
              <a:rPr lang="en-IN" sz="2000" dirty="0" err="1"/>
              <a:t>np.array</a:t>
            </a:r>
            <a:r>
              <a:rPr lang="en-IN" sz="2000" dirty="0"/>
              <a:t>([10,20,30])</a:t>
            </a:r>
          </a:p>
          <a:p>
            <a:r>
              <a:rPr lang="en-IN" sz="2000" dirty="0"/>
              <a:t>n1=n1/2</a:t>
            </a:r>
          </a:p>
          <a:p>
            <a:r>
              <a:rPr lang="en-IN" sz="2000" dirty="0"/>
              <a:t>n1</a:t>
            </a:r>
          </a:p>
          <a:p>
            <a:endParaRPr lang="en-IN" sz="1000" dirty="0"/>
          </a:p>
          <a:p>
            <a:r>
              <a:rPr lang="en-IN" sz="2000" b="1" dirty="0" err="1"/>
              <a:t>OUTPUT:</a:t>
            </a:r>
            <a:r>
              <a:rPr lang="en-IN" sz="2000" dirty="0" err="1"/>
              <a:t>array</a:t>
            </a:r>
            <a:r>
              <a:rPr lang="en-IN" sz="2000" dirty="0"/>
              <a:t>([5.,10.,15.])</a:t>
            </a:r>
          </a:p>
          <a:p>
            <a:endParaRPr lang="en-IN" sz="800" dirty="0"/>
          </a:p>
          <a:p>
            <a:r>
              <a:rPr lang="en-IN" sz="2300" b="1" dirty="0"/>
              <a:t>MEAN</a:t>
            </a:r>
          </a:p>
          <a:p>
            <a:endParaRPr lang="en-IN" sz="800" b="1" dirty="0"/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n1=</a:t>
            </a:r>
            <a:r>
              <a:rPr lang="en-IN" sz="2000" dirty="0" err="1"/>
              <a:t>np.array</a:t>
            </a:r>
            <a:r>
              <a:rPr lang="en-IN" sz="2000" dirty="0"/>
              <a:t>([10,20,30,40,50,60])</a:t>
            </a:r>
          </a:p>
          <a:p>
            <a:r>
              <a:rPr lang="en-IN" sz="2000" dirty="0" err="1"/>
              <a:t>np.mean</a:t>
            </a:r>
            <a:r>
              <a:rPr lang="en-IN" sz="2000" dirty="0"/>
              <a:t>(n1)</a:t>
            </a:r>
          </a:p>
          <a:p>
            <a:endParaRPr lang="en-IN" sz="1000" dirty="0"/>
          </a:p>
          <a:p>
            <a:r>
              <a:rPr lang="en-IN" sz="2000" b="1" dirty="0"/>
              <a:t>OUTPUT:</a:t>
            </a:r>
            <a:r>
              <a:rPr lang="en-IN" sz="2000" dirty="0"/>
              <a:t>35.0</a:t>
            </a:r>
          </a:p>
          <a:p>
            <a:endParaRPr lang="en-IN" sz="800" dirty="0"/>
          </a:p>
          <a:p>
            <a:endParaRPr lang="en-IN" sz="800" dirty="0"/>
          </a:p>
          <a:p>
            <a:r>
              <a:rPr lang="en-IN" sz="2300" b="1" dirty="0"/>
              <a:t>STANDARD DEVIATION</a:t>
            </a:r>
          </a:p>
          <a:p>
            <a:endParaRPr lang="en-IN" sz="800" b="1" dirty="0"/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n1=</a:t>
            </a:r>
            <a:r>
              <a:rPr lang="en-IN" sz="2000" dirty="0" err="1"/>
              <a:t>np.array</a:t>
            </a:r>
            <a:r>
              <a:rPr lang="en-IN" sz="2000" dirty="0"/>
              <a:t>([1,5,3,100,4,48])</a:t>
            </a:r>
          </a:p>
          <a:p>
            <a:r>
              <a:rPr lang="en-IN" sz="2000" dirty="0" err="1"/>
              <a:t>np.std</a:t>
            </a:r>
            <a:r>
              <a:rPr lang="en-IN" sz="2000" dirty="0"/>
              <a:t>(n1)</a:t>
            </a:r>
          </a:p>
          <a:p>
            <a:endParaRPr lang="en-IN" sz="1000" dirty="0"/>
          </a:p>
          <a:p>
            <a:r>
              <a:rPr lang="en-IN" sz="2000" b="1" dirty="0"/>
              <a:t>OUTPUT</a:t>
            </a:r>
            <a:r>
              <a:rPr lang="en-IN" sz="2000" dirty="0"/>
              <a:t>:36.59424666377065</a:t>
            </a:r>
          </a:p>
          <a:p>
            <a:endParaRPr lang="en-IN" sz="800" b="1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088647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1695D4-E6F1-0E25-91BF-6381AE6D744A}"/>
              </a:ext>
            </a:extLst>
          </p:cNvPr>
          <p:cNvSpPr txBox="1"/>
          <p:nvPr/>
        </p:nvSpPr>
        <p:spPr>
          <a:xfrm>
            <a:off x="127819" y="189651"/>
            <a:ext cx="11936361" cy="6478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#NumPy Matrix</a:t>
            </a:r>
          </a:p>
          <a:p>
            <a:endParaRPr lang="en-IN" sz="800" b="1" dirty="0"/>
          </a:p>
          <a:p>
            <a:r>
              <a:rPr lang="en-IN" sz="2300" b="1" dirty="0"/>
              <a:t>MATRIX REPRESENTATION&amp;BASIC OPERATIONS</a:t>
            </a:r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n1=</a:t>
            </a:r>
            <a:r>
              <a:rPr lang="en-IN" sz="2000" dirty="0" err="1"/>
              <a:t>np.array</a:t>
            </a:r>
            <a:r>
              <a:rPr lang="en-IN" sz="2000" dirty="0"/>
              <a:t>([[1,2,3].[4,5,6],[7,8,9]])</a:t>
            </a:r>
          </a:p>
          <a:p>
            <a:r>
              <a:rPr lang="en-IN" sz="2000" dirty="0"/>
              <a:t>n1</a:t>
            </a:r>
          </a:p>
          <a:p>
            <a:endParaRPr lang="en-IN" sz="800" b="1" dirty="0"/>
          </a:p>
          <a:p>
            <a:r>
              <a:rPr lang="en-IN" sz="2000" b="1" dirty="0"/>
              <a:t>OUTPUT: </a:t>
            </a:r>
            <a:r>
              <a:rPr lang="en-IN" sz="2000" dirty="0"/>
              <a:t>array([1,2,3],</a:t>
            </a:r>
          </a:p>
          <a:p>
            <a:r>
              <a:rPr lang="en-IN" sz="2000" dirty="0"/>
              <a:t>                           [4,5,6],</a:t>
            </a:r>
          </a:p>
          <a:p>
            <a:r>
              <a:rPr lang="en-IN" sz="2000" dirty="0"/>
              <a:t>                           [7,8,9]])</a:t>
            </a:r>
          </a:p>
          <a:p>
            <a:endParaRPr lang="en-IN" sz="800" dirty="0"/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n1=</a:t>
            </a:r>
            <a:r>
              <a:rPr lang="en-IN" sz="2000" dirty="0" err="1"/>
              <a:t>np.array</a:t>
            </a:r>
            <a:r>
              <a:rPr lang="en-IN" sz="2000" dirty="0"/>
              <a:t>([[1,2,3].[4,5,6],[7,8,9]])</a:t>
            </a:r>
          </a:p>
          <a:p>
            <a:r>
              <a:rPr lang="en-IN" sz="2000" dirty="0"/>
              <a:t>n1[0]</a:t>
            </a:r>
          </a:p>
          <a:p>
            <a:endParaRPr lang="en-IN" sz="800" dirty="0"/>
          </a:p>
          <a:p>
            <a:r>
              <a:rPr lang="en-IN" sz="2000" b="1" dirty="0"/>
              <a:t>OUTPUT: </a:t>
            </a:r>
            <a:r>
              <a:rPr lang="en-IN" sz="2000" dirty="0"/>
              <a:t>array([1,2,3])</a:t>
            </a:r>
          </a:p>
          <a:p>
            <a:endParaRPr lang="en-IN" sz="800" dirty="0"/>
          </a:p>
          <a:p>
            <a:endParaRPr lang="en-IN" sz="2000" dirty="0"/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n1=</a:t>
            </a:r>
            <a:r>
              <a:rPr lang="en-IN" sz="2000" dirty="0" err="1"/>
              <a:t>np.array</a:t>
            </a:r>
            <a:r>
              <a:rPr lang="en-IN" sz="2000" dirty="0"/>
              <a:t>([[1,2,3].[4,5,6],[7,8,9]])</a:t>
            </a:r>
          </a:p>
          <a:p>
            <a:r>
              <a:rPr lang="en-IN" sz="2000" dirty="0"/>
              <a:t>n1[1]</a:t>
            </a:r>
          </a:p>
          <a:p>
            <a:endParaRPr lang="en-IN" sz="800" dirty="0"/>
          </a:p>
          <a:p>
            <a:r>
              <a:rPr lang="en-IN" sz="2000" b="1" dirty="0"/>
              <a:t>OUTPUT: </a:t>
            </a:r>
            <a:r>
              <a:rPr lang="en-IN" sz="2000" dirty="0"/>
              <a:t>array([4,5,6])</a:t>
            </a:r>
          </a:p>
        </p:txBody>
      </p:sp>
    </p:spTree>
    <p:extLst>
      <p:ext uri="{BB962C8B-B14F-4D97-AF65-F5344CB8AC3E}">
        <p14:creationId xmlns:p14="http://schemas.microsoft.com/office/powerpoint/2010/main" val="3238652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527A87F-F5B0-2A3B-8201-831BBB62C900}"/>
              </a:ext>
            </a:extLst>
          </p:cNvPr>
          <p:cNvSpPr txBox="1"/>
          <p:nvPr/>
        </p:nvSpPr>
        <p:spPr>
          <a:xfrm>
            <a:off x="255638" y="167149"/>
            <a:ext cx="11936362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/>
              <a:t>TRANSPOSE OF A MATRIX</a:t>
            </a:r>
          </a:p>
          <a:p>
            <a:endParaRPr lang="en-IN" sz="800" b="1" dirty="0"/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n1=</a:t>
            </a:r>
            <a:r>
              <a:rPr lang="en-IN" sz="2000" dirty="0" err="1"/>
              <a:t>np.array</a:t>
            </a:r>
            <a:r>
              <a:rPr lang="en-IN" sz="2000" dirty="0"/>
              <a:t>([[1,2,3].[4,5,6],[7,8,9]])</a:t>
            </a:r>
          </a:p>
          <a:p>
            <a:r>
              <a:rPr lang="en-IN" sz="2000" dirty="0"/>
              <a:t>n1.transpose()</a:t>
            </a:r>
          </a:p>
          <a:p>
            <a:endParaRPr lang="en-IN" sz="800" dirty="0"/>
          </a:p>
          <a:p>
            <a:r>
              <a:rPr lang="en-IN" sz="2000" b="1" dirty="0"/>
              <a:t>OUTPUT: </a:t>
            </a:r>
            <a:r>
              <a:rPr lang="en-IN" sz="2000" dirty="0"/>
              <a:t>array([1,4,7],</a:t>
            </a:r>
          </a:p>
          <a:p>
            <a:r>
              <a:rPr lang="en-IN" sz="2000" dirty="0"/>
              <a:t>                             [2,5,8],</a:t>
            </a:r>
          </a:p>
          <a:p>
            <a:r>
              <a:rPr lang="en-IN" sz="2000" dirty="0"/>
              <a:t>                             [3,6,9]]</a:t>
            </a:r>
          </a:p>
          <a:p>
            <a:endParaRPr lang="en-IN" sz="2000" b="1" dirty="0"/>
          </a:p>
          <a:p>
            <a:r>
              <a:rPr lang="en-IN" sz="2300" b="1" dirty="0"/>
              <a:t>MATRIX MULTIPLICATION</a:t>
            </a:r>
          </a:p>
          <a:p>
            <a:endParaRPr lang="en-IN" sz="800" dirty="0"/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n1=</a:t>
            </a:r>
            <a:r>
              <a:rPr lang="en-IN" sz="2000" dirty="0" err="1"/>
              <a:t>np.array</a:t>
            </a:r>
            <a:r>
              <a:rPr lang="en-IN" sz="2000" dirty="0"/>
              <a:t>([[1,2,3],[4,5,6],[7,8,9]])</a:t>
            </a:r>
          </a:p>
          <a:p>
            <a:r>
              <a:rPr lang="en-IN" sz="2000" dirty="0"/>
              <a:t>n2=</a:t>
            </a:r>
            <a:r>
              <a:rPr lang="en-IN" sz="2000" dirty="0" err="1"/>
              <a:t>np.array</a:t>
            </a:r>
            <a:r>
              <a:rPr lang="en-IN" sz="2000" dirty="0"/>
              <a:t>([[9,8,7],[6,5,4],[3,2,1]])</a:t>
            </a:r>
          </a:p>
          <a:p>
            <a:r>
              <a:rPr lang="en-IN" sz="2000" dirty="0"/>
              <a:t>n1.dot(n2)</a:t>
            </a:r>
          </a:p>
          <a:p>
            <a:endParaRPr lang="en-IN" sz="1000" dirty="0"/>
          </a:p>
          <a:p>
            <a:r>
              <a:rPr lang="en-IN" sz="2000" b="1" dirty="0"/>
              <a:t>OUTPUT: </a:t>
            </a:r>
            <a:r>
              <a:rPr lang="en-IN" sz="2000" dirty="0"/>
              <a:t>array([[30,24,18],</a:t>
            </a:r>
          </a:p>
          <a:p>
            <a:r>
              <a:rPr lang="en-IN" sz="2000" dirty="0"/>
              <a:t>                            [84,69,54],</a:t>
            </a:r>
          </a:p>
          <a:p>
            <a:r>
              <a:rPr lang="en-IN" sz="2000" dirty="0"/>
              <a:t>                            [138,114,90]])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73557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4191CB-4688-194E-CCC7-1A80BFB45153}"/>
              </a:ext>
            </a:extLst>
          </p:cNvPr>
          <p:cNvSpPr txBox="1"/>
          <p:nvPr/>
        </p:nvSpPr>
        <p:spPr>
          <a:xfrm>
            <a:off x="5058697" y="216310"/>
            <a:ext cx="20746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PANDAS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8E905-166E-48F2-6AEA-E52BCD33F571}"/>
              </a:ext>
            </a:extLst>
          </p:cNvPr>
          <p:cNvSpPr txBox="1"/>
          <p:nvPr/>
        </p:nvSpPr>
        <p:spPr>
          <a:xfrm>
            <a:off x="137651" y="796377"/>
            <a:ext cx="11916696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Introduction</a:t>
            </a:r>
          </a:p>
          <a:p>
            <a:endParaRPr lang="en-IN" sz="1000" dirty="0"/>
          </a:p>
          <a:p>
            <a:r>
              <a:rPr lang="en-US" sz="2000" dirty="0"/>
              <a:t>Pandas is an open-source Python library used for data analysis and data manipulation</a:t>
            </a:r>
          </a:p>
          <a:p>
            <a:r>
              <a:rPr lang="en-US" sz="2000" dirty="0"/>
              <a:t>It helps to handle structured data like tables (rows and columns) easily</a:t>
            </a:r>
          </a:p>
          <a:p>
            <a:r>
              <a:rPr lang="en-US" sz="2000" dirty="0"/>
              <a:t>It is widely used in Machine Learning, Data Science, and AI projects</a:t>
            </a:r>
          </a:p>
          <a:p>
            <a:r>
              <a:rPr lang="en-US" sz="2000" dirty="0"/>
              <a:t>It provides two main data structures:</a:t>
            </a:r>
          </a:p>
          <a:p>
            <a:r>
              <a:rPr lang="en-US" sz="2000" dirty="0"/>
              <a:t>Series – for one-dimensional data</a:t>
            </a:r>
          </a:p>
          <a:p>
            <a:r>
              <a:rPr lang="en-US" sz="2000" dirty="0" err="1"/>
              <a:t>DataFrame</a:t>
            </a:r>
            <a:r>
              <a:rPr lang="en-US" sz="2000" dirty="0"/>
              <a:t> – for two-dimensional data </a:t>
            </a:r>
          </a:p>
          <a:p>
            <a:endParaRPr lang="en-IN" sz="2000" dirty="0"/>
          </a:p>
          <a:p>
            <a:r>
              <a:rPr lang="en-IN" sz="3200" dirty="0"/>
              <a:t>Changing index in series(for one dimensional data)</a:t>
            </a:r>
            <a:endParaRPr lang="en-IN" sz="800" dirty="0"/>
          </a:p>
          <a:p>
            <a:r>
              <a:rPr lang="en-IN" sz="2000" dirty="0"/>
              <a:t>import pandas as pd</a:t>
            </a:r>
          </a:p>
          <a:p>
            <a:r>
              <a:rPr lang="en-IN" sz="2000" dirty="0"/>
              <a:t>s1=</a:t>
            </a:r>
            <a:r>
              <a:rPr lang="en-IN" sz="2000" dirty="0" err="1"/>
              <a:t>pd.Series</a:t>
            </a:r>
            <a:r>
              <a:rPr lang="en-IN" sz="2000" dirty="0"/>
              <a:t>([1,2,3,4,5])</a:t>
            </a:r>
          </a:p>
          <a:p>
            <a:r>
              <a:rPr lang="en-IN" sz="2000" dirty="0"/>
              <a:t>s1</a:t>
            </a:r>
          </a:p>
          <a:p>
            <a:r>
              <a:rPr lang="en-IN" sz="2000" b="1" dirty="0"/>
              <a:t>OUTPUT:</a:t>
            </a:r>
            <a:r>
              <a:rPr lang="en-IN" sz="2000" dirty="0"/>
              <a:t>0    1</a:t>
            </a:r>
          </a:p>
          <a:p>
            <a:r>
              <a:rPr lang="en-IN" sz="2000" dirty="0"/>
              <a:t>                1    2</a:t>
            </a:r>
          </a:p>
          <a:p>
            <a:r>
              <a:rPr lang="en-IN" sz="2000" dirty="0"/>
              <a:t>                2    3</a:t>
            </a:r>
          </a:p>
          <a:p>
            <a:r>
              <a:rPr lang="en-IN" sz="2000" dirty="0"/>
              <a:t>                3    4</a:t>
            </a:r>
          </a:p>
          <a:p>
            <a:r>
              <a:rPr lang="en-IN" sz="2000" dirty="0"/>
              <a:t>                4    5</a:t>
            </a:r>
          </a:p>
          <a:p>
            <a:r>
              <a:rPr lang="en-IN" b="1" dirty="0"/>
              <a:t>               </a:t>
            </a:r>
            <a:r>
              <a:rPr lang="en-IN" dirty="0" err="1"/>
              <a:t>dtype</a:t>
            </a:r>
            <a:r>
              <a:rPr lang="en-IN" dirty="0"/>
              <a:t>: int64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382234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FACE73-6EEF-2B02-1ACC-D12CDF6A3894}"/>
              </a:ext>
            </a:extLst>
          </p:cNvPr>
          <p:cNvSpPr txBox="1"/>
          <p:nvPr/>
        </p:nvSpPr>
        <p:spPr>
          <a:xfrm>
            <a:off x="127819" y="245806"/>
            <a:ext cx="11926529" cy="7094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/>
              <a:t>CHANGING THE INDEX</a:t>
            </a:r>
          </a:p>
          <a:p>
            <a:endParaRPr lang="en-IN" sz="800" b="1" dirty="0"/>
          </a:p>
          <a:p>
            <a:r>
              <a:rPr lang="en-IN" sz="2000" dirty="0"/>
              <a:t> import pandas as pd</a:t>
            </a:r>
          </a:p>
          <a:p>
            <a:r>
              <a:rPr lang="en-IN" sz="2000" dirty="0"/>
              <a:t> s1 = </a:t>
            </a:r>
            <a:r>
              <a:rPr lang="en-IN" sz="2000" dirty="0" err="1"/>
              <a:t>pd.Series</a:t>
            </a:r>
            <a:r>
              <a:rPr lang="en-IN" sz="2000" dirty="0"/>
              <a:t>([1, 2, 3, 4, 5], index=['A', 'B', 'C', 'D', 'E’])</a:t>
            </a:r>
          </a:p>
          <a:p>
            <a:r>
              <a:rPr lang="en-IN" sz="2000" dirty="0"/>
              <a:t> print(s1)</a:t>
            </a:r>
          </a:p>
          <a:p>
            <a:endParaRPr lang="en-IN" sz="1000" dirty="0"/>
          </a:p>
          <a:p>
            <a:r>
              <a:rPr lang="en-IN" sz="2000" b="1" dirty="0"/>
              <a:t>OUTPUT</a:t>
            </a:r>
            <a:r>
              <a:rPr lang="en-IN" sz="2000" dirty="0"/>
              <a:t>: A    1</a:t>
            </a:r>
          </a:p>
          <a:p>
            <a:r>
              <a:rPr lang="en-IN" sz="2000" dirty="0"/>
              <a:t>                 B     2</a:t>
            </a:r>
          </a:p>
          <a:p>
            <a:r>
              <a:rPr lang="en-IN" sz="2000" dirty="0"/>
              <a:t>                 C     3</a:t>
            </a:r>
          </a:p>
          <a:p>
            <a:r>
              <a:rPr lang="en-IN" sz="2000" dirty="0"/>
              <a:t>                 D     4</a:t>
            </a:r>
          </a:p>
          <a:p>
            <a:r>
              <a:rPr lang="en-IN" sz="2000" dirty="0"/>
              <a:t>                 E     5</a:t>
            </a:r>
          </a:p>
          <a:p>
            <a:r>
              <a:rPr lang="en-IN" sz="2000" dirty="0"/>
              <a:t>                 </a:t>
            </a:r>
            <a:r>
              <a:rPr lang="en-IN" sz="2000" dirty="0" err="1"/>
              <a:t>dtype</a:t>
            </a:r>
            <a:r>
              <a:rPr lang="en-IN" sz="2000" dirty="0"/>
              <a:t>: int64</a:t>
            </a:r>
          </a:p>
          <a:p>
            <a:endParaRPr lang="en-IN" sz="2300" b="1" dirty="0"/>
          </a:p>
          <a:p>
            <a:r>
              <a:rPr lang="en-IN" sz="2300" b="1" dirty="0"/>
              <a:t>SERIES OBJECT FROM DICTIONARY</a:t>
            </a:r>
          </a:p>
          <a:p>
            <a:endParaRPr lang="en-IN" sz="800" b="1" dirty="0"/>
          </a:p>
          <a:p>
            <a:r>
              <a:rPr lang="en-IN" sz="2000" dirty="0"/>
              <a:t>import pandas as pd</a:t>
            </a:r>
          </a:p>
          <a:p>
            <a:r>
              <a:rPr lang="en-IN" sz="2000" dirty="0"/>
              <a:t>data = {'A': 10, 'B': 20, 'C': 30}</a:t>
            </a:r>
          </a:p>
          <a:p>
            <a:r>
              <a:rPr lang="en-IN" sz="2000" dirty="0"/>
              <a:t>s = </a:t>
            </a:r>
            <a:r>
              <a:rPr lang="en-IN" sz="2000" dirty="0" err="1"/>
              <a:t>pd.Series</a:t>
            </a:r>
            <a:r>
              <a:rPr lang="en-IN" sz="2000" dirty="0"/>
              <a:t>(data)</a:t>
            </a:r>
          </a:p>
          <a:p>
            <a:r>
              <a:rPr lang="en-IN" sz="2000" dirty="0"/>
              <a:t>print(s)</a:t>
            </a:r>
          </a:p>
          <a:p>
            <a:r>
              <a:rPr lang="en-IN" sz="2000" b="1" dirty="0"/>
              <a:t>OUTPUT: </a:t>
            </a:r>
            <a:r>
              <a:rPr lang="en-US" sz="2000" dirty="0"/>
              <a:t>A    10</a:t>
            </a:r>
          </a:p>
          <a:p>
            <a:r>
              <a:rPr lang="en-US" sz="2000" dirty="0"/>
              <a:t>                 B    20</a:t>
            </a:r>
          </a:p>
          <a:p>
            <a:r>
              <a:rPr lang="en-US" sz="2000" dirty="0"/>
              <a:t>                 C    30</a:t>
            </a:r>
          </a:p>
          <a:p>
            <a:r>
              <a:rPr lang="en-US" sz="2000" dirty="0"/>
              <a:t>                 </a:t>
            </a:r>
            <a:r>
              <a:rPr lang="en-US" sz="2000" dirty="0" err="1"/>
              <a:t>dtype</a:t>
            </a:r>
            <a:r>
              <a:rPr lang="en-US" sz="2000" dirty="0"/>
              <a:t>: int64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991503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D19168-61F6-60B5-DFB7-807CD02463D9}"/>
              </a:ext>
            </a:extLst>
          </p:cNvPr>
          <p:cNvSpPr txBox="1"/>
          <p:nvPr/>
        </p:nvSpPr>
        <p:spPr>
          <a:xfrm>
            <a:off x="108155" y="167148"/>
            <a:ext cx="11926529" cy="732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CHANGING INDEX POSITION</a:t>
            </a:r>
          </a:p>
          <a:p>
            <a:endParaRPr lang="en-IN" sz="800" b="1" dirty="0"/>
          </a:p>
          <a:p>
            <a:r>
              <a:rPr lang="en-IN" sz="2000" dirty="0"/>
              <a:t>import pandas as pd</a:t>
            </a:r>
          </a:p>
          <a:p>
            <a:r>
              <a:rPr lang="en-IN" sz="2000" dirty="0"/>
              <a:t>data = [10, 20, 30, 40, 50]</a:t>
            </a:r>
          </a:p>
          <a:p>
            <a:r>
              <a:rPr lang="en-IN" sz="2000" dirty="0"/>
              <a:t>s = </a:t>
            </a:r>
            <a:r>
              <a:rPr lang="en-IN" sz="2000" dirty="0" err="1"/>
              <a:t>pd.Series</a:t>
            </a:r>
            <a:r>
              <a:rPr lang="en-IN" sz="2000" dirty="0"/>
              <a:t>(data, index=['A', 'B', 'C', 'D', 'E'])</a:t>
            </a:r>
          </a:p>
          <a:p>
            <a:r>
              <a:rPr lang="en-IN" sz="2000" dirty="0"/>
              <a:t>print("Original Series:\n", s)</a:t>
            </a:r>
          </a:p>
          <a:p>
            <a:r>
              <a:rPr lang="en-IN" sz="2000" dirty="0"/>
              <a:t>s = </a:t>
            </a:r>
            <a:r>
              <a:rPr lang="en-IN" sz="2000" dirty="0" err="1"/>
              <a:t>s.reindex</a:t>
            </a:r>
            <a:r>
              <a:rPr lang="en-IN" sz="2000" dirty="0"/>
              <a:t>(['C', 'A', 'E', 'B', 'D'])</a:t>
            </a:r>
          </a:p>
          <a:p>
            <a:r>
              <a:rPr lang="en-IN" sz="2000" dirty="0"/>
              <a:t>print("\</a:t>
            </a:r>
            <a:r>
              <a:rPr lang="en-IN" sz="2000" dirty="0" err="1"/>
              <a:t>nSeries</a:t>
            </a:r>
            <a:r>
              <a:rPr lang="en-IN" sz="2000" dirty="0"/>
              <a:t> After Changing Index Positions:\n", s)</a:t>
            </a:r>
            <a:endParaRPr lang="en-IN" sz="1000" b="1" dirty="0"/>
          </a:p>
          <a:p>
            <a:r>
              <a:rPr lang="en-IN" sz="2000" b="1" dirty="0"/>
              <a:t>OUTPUT:</a:t>
            </a:r>
            <a:r>
              <a:rPr lang="en-US" sz="2000" dirty="0"/>
              <a:t>Original Series:</a:t>
            </a:r>
          </a:p>
          <a:p>
            <a:r>
              <a:rPr lang="en-US" sz="2000" dirty="0"/>
              <a:t>                   A    10</a:t>
            </a:r>
          </a:p>
          <a:p>
            <a:r>
              <a:rPr lang="en-US" sz="2000" dirty="0"/>
              <a:t>                   B    20</a:t>
            </a:r>
          </a:p>
          <a:p>
            <a:r>
              <a:rPr lang="en-US" sz="2000" dirty="0"/>
              <a:t>                   C    30</a:t>
            </a:r>
          </a:p>
          <a:p>
            <a:r>
              <a:rPr lang="en-US" sz="2000" dirty="0"/>
              <a:t>                   D    40</a:t>
            </a:r>
          </a:p>
          <a:p>
            <a:r>
              <a:rPr lang="en-US" sz="2000" dirty="0"/>
              <a:t>                   E    50</a:t>
            </a:r>
          </a:p>
          <a:p>
            <a:r>
              <a:rPr lang="en-US" sz="2000" dirty="0"/>
              <a:t>                  </a:t>
            </a:r>
            <a:r>
              <a:rPr lang="en-US" sz="2000" dirty="0" err="1"/>
              <a:t>dtype</a:t>
            </a:r>
            <a:r>
              <a:rPr lang="en-US" sz="2000" dirty="0"/>
              <a:t>: int64</a:t>
            </a:r>
          </a:p>
          <a:p>
            <a:r>
              <a:rPr lang="en-US" sz="2000" dirty="0"/>
              <a:t>Series After Changing Index Positions:</a:t>
            </a:r>
          </a:p>
          <a:p>
            <a:r>
              <a:rPr lang="en-US" sz="2000" dirty="0"/>
              <a:t>                  C    30</a:t>
            </a:r>
          </a:p>
          <a:p>
            <a:r>
              <a:rPr lang="en-US" sz="2000" dirty="0"/>
              <a:t>                  A    10</a:t>
            </a:r>
          </a:p>
          <a:p>
            <a:r>
              <a:rPr lang="en-US" sz="2000" dirty="0"/>
              <a:t>                  E    50</a:t>
            </a:r>
          </a:p>
          <a:p>
            <a:r>
              <a:rPr lang="en-US" sz="2000" dirty="0"/>
              <a:t>                  B    20</a:t>
            </a:r>
          </a:p>
          <a:p>
            <a:r>
              <a:rPr lang="en-US" sz="2000" dirty="0"/>
              <a:t>                  D    40</a:t>
            </a:r>
          </a:p>
          <a:p>
            <a:r>
              <a:rPr lang="en-US" sz="2000" dirty="0"/>
              <a:t>                  </a:t>
            </a:r>
            <a:r>
              <a:rPr lang="en-US" sz="2000" dirty="0" err="1"/>
              <a:t>dtype</a:t>
            </a:r>
            <a:r>
              <a:rPr lang="en-US" sz="2000" dirty="0"/>
              <a:t>: int64</a:t>
            </a:r>
          </a:p>
          <a:p>
            <a:r>
              <a:rPr lang="en-IN" sz="2000" b="1" dirty="0"/>
              <a:t>          </a:t>
            </a:r>
          </a:p>
        </p:txBody>
      </p:sp>
    </p:spTree>
    <p:extLst>
      <p:ext uri="{BB962C8B-B14F-4D97-AF65-F5344CB8AC3E}">
        <p14:creationId xmlns:p14="http://schemas.microsoft.com/office/powerpoint/2010/main" val="2235402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2B99C9-16F6-BBA1-FCD5-9A53CD63DF31}"/>
              </a:ext>
            </a:extLst>
          </p:cNvPr>
          <p:cNvSpPr txBox="1"/>
          <p:nvPr/>
        </p:nvSpPr>
        <p:spPr>
          <a:xfrm>
            <a:off x="157316" y="216310"/>
            <a:ext cx="11936361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EXTRACTING ELEMENTS FROM SERIES </a:t>
            </a:r>
          </a:p>
          <a:p>
            <a:endParaRPr lang="en-IN" sz="1000" b="1" dirty="0"/>
          </a:p>
          <a:p>
            <a:r>
              <a:rPr lang="en-IN" sz="2000" dirty="0"/>
              <a:t>import pandas as pd</a:t>
            </a:r>
          </a:p>
          <a:p>
            <a:r>
              <a:rPr lang="en-IN" sz="2000" dirty="0"/>
              <a:t>s1=</a:t>
            </a:r>
            <a:r>
              <a:rPr lang="en-IN" sz="2000" dirty="0" err="1"/>
              <a:t>pd.Series</a:t>
            </a:r>
            <a:r>
              <a:rPr lang="en-IN" sz="2000" dirty="0"/>
              <a:t>([1,2,3,4,5,6,7,8,9])</a:t>
            </a:r>
          </a:p>
          <a:p>
            <a:r>
              <a:rPr lang="en-IN" sz="2000" dirty="0"/>
              <a:t>s1[3]                                                           #extracting a single element</a:t>
            </a:r>
          </a:p>
          <a:p>
            <a:endParaRPr lang="en-IN" sz="800" dirty="0"/>
          </a:p>
          <a:p>
            <a:r>
              <a:rPr lang="en-IN" sz="2000" dirty="0"/>
              <a:t>OUTPUT:4</a:t>
            </a:r>
          </a:p>
          <a:p>
            <a:endParaRPr lang="en-IN" sz="2000" dirty="0"/>
          </a:p>
          <a:p>
            <a:r>
              <a:rPr lang="en-IN" sz="2000" dirty="0"/>
              <a:t>import pandas as pd</a:t>
            </a:r>
          </a:p>
          <a:p>
            <a:r>
              <a:rPr lang="en-IN" sz="2000" dirty="0"/>
              <a:t>S1=</a:t>
            </a:r>
            <a:r>
              <a:rPr lang="en-IN" sz="2000" dirty="0" err="1"/>
              <a:t>pd,series</a:t>
            </a:r>
            <a:r>
              <a:rPr lang="en-IN" sz="2000" dirty="0"/>
              <a:t>([1,2,3,4,5,6,7,8,9])</a:t>
            </a:r>
          </a:p>
          <a:p>
            <a:r>
              <a:rPr lang="en-IN" sz="2000" dirty="0"/>
              <a:t>S1[-3:]                                                         #extracting element from back</a:t>
            </a:r>
          </a:p>
          <a:p>
            <a:r>
              <a:rPr lang="en-IN" sz="2000" dirty="0"/>
              <a:t>OUTPUT:6  7</a:t>
            </a:r>
          </a:p>
          <a:p>
            <a:r>
              <a:rPr lang="en-IN" sz="2000" dirty="0"/>
              <a:t>                7  8</a:t>
            </a:r>
          </a:p>
          <a:p>
            <a:r>
              <a:rPr lang="en-IN" sz="2000" dirty="0"/>
              <a:t>                8  9</a:t>
            </a:r>
          </a:p>
          <a:p>
            <a:r>
              <a:rPr lang="en-IN" sz="2000" dirty="0"/>
              <a:t>               </a:t>
            </a:r>
            <a:r>
              <a:rPr lang="en-IN" sz="2000" dirty="0" err="1"/>
              <a:t>dtype</a:t>
            </a:r>
            <a:r>
              <a:rPr lang="en-IN" sz="2000" dirty="0"/>
              <a:t>: int64</a:t>
            </a:r>
          </a:p>
          <a:p>
            <a:endParaRPr lang="en-IN" sz="800" dirty="0"/>
          </a:p>
          <a:p>
            <a:r>
              <a:rPr lang="en-IN" sz="2000" dirty="0"/>
              <a:t>import pandas as pd</a:t>
            </a:r>
          </a:p>
          <a:p>
            <a:r>
              <a:rPr lang="en-IN" sz="2000" dirty="0"/>
              <a:t>S1=</a:t>
            </a:r>
            <a:r>
              <a:rPr lang="en-IN" sz="2000" dirty="0" err="1"/>
              <a:t>pd,series</a:t>
            </a:r>
            <a:r>
              <a:rPr lang="en-IN" sz="2000" dirty="0"/>
              <a:t>([1,2,3,4,5,6,7,8,9])</a:t>
            </a:r>
          </a:p>
          <a:p>
            <a:r>
              <a:rPr lang="en-IN" sz="2000" dirty="0"/>
              <a:t>S1[ :4]                                                          #extracting a sequence of elements</a:t>
            </a:r>
          </a:p>
          <a:p>
            <a:r>
              <a:rPr lang="en-IN" sz="2000" dirty="0"/>
              <a:t>OUTPUT:0  1</a:t>
            </a:r>
          </a:p>
          <a:p>
            <a:r>
              <a:rPr lang="en-IN" sz="2000" dirty="0"/>
              <a:t>                1  2</a:t>
            </a:r>
          </a:p>
          <a:p>
            <a:r>
              <a:rPr lang="en-IN" sz="2000" dirty="0"/>
              <a:t>                2  3</a:t>
            </a:r>
          </a:p>
          <a:p>
            <a:r>
              <a:rPr lang="en-IN" sz="2000" dirty="0"/>
              <a:t>                3  4</a:t>
            </a:r>
          </a:p>
        </p:txBody>
      </p:sp>
    </p:spTree>
    <p:extLst>
      <p:ext uri="{BB962C8B-B14F-4D97-AF65-F5344CB8AC3E}">
        <p14:creationId xmlns:p14="http://schemas.microsoft.com/office/powerpoint/2010/main" val="1105910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1AE4D7-73F7-DB81-F750-229E86F64FC3}"/>
              </a:ext>
            </a:extLst>
          </p:cNvPr>
          <p:cNvSpPr txBox="1"/>
          <p:nvPr/>
        </p:nvSpPr>
        <p:spPr>
          <a:xfrm>
            <a:off x="117987" y="137651"/>
            <a:ext cx="11956026" cy="629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1" dirty="0"/>
              <a:t>Pandas </a:t>
            </a:r>
            <a:r>
              <a:rPr lang="en-IN" sz="3200" b="1" i="1" dirty="0" err="1"/>
              <a:t>DataFrame</a:t>
            </a:r>
            <a:endParaRPr lang="en-IN" sz="3200" b="1" i="1" dirty="0"/>
          </a:p>
          <a:p>
            <a:endParaRPr lang="en-IN" sz="800" b="1" i="1" dirty="0"/>
          </a:p>
          <a:p>
            <a:r>
              <a:rPr lang="en-IN" sz="2000" dirty="0"/>
              <a:t>import pandas as pd</a:t>
            </a:r>
          </a:p>
          <a:p>
            <a:r>
              <a:rPr lang="en-IN" sz="2000" dirty="0"/>
              <a:t>data = {'Name': ['Ajay', 'Ravi', 'Kiran'],</a:t>
            </a:r>
          </a:p>
          <a:p>
            <a:r>
              <a:rPr lang="en-IN" sz="2000" dirty="0"/>
              <a:t>              'Age': [19, 20, 21],</a:t>
            </a:r>
          </a:p>
          <a:p>
            <a:r>
              <a:rPr lang="en-IN" sz="2000" dirty="0"/>
              <a:t>              'Course': ['CSE', 'ECE', 'AIML']}</a:t>
            </a:r>
          </a:p>
          <a:p>
            <a:r>
              <a:rPr lang="en-IN" sz="2000" dirty="0" err="1"/>
              <a:t>df</a:t>
            </a:r>
            <a:r>
              <a:rPr lang="en-IN" sz="2000" dirty="0"/>
              <a:t> = </a:t>
            </a:r>
            <a:r>
              <a:rPr lang="en-IN" sz="2000" dirty="0" err="1"/>
              <a:t>pd.DataFrame</a:t>
            </a:r>
            <a:r>
              <a:rPr lang="en-IN" sz="2000" dirty="0"/>
              <a:t>(data)</a:t>
            </a:r>
          </a:p>
          <a:p>
            <a:r>
              <a:rPr lang="en-IN" sz="2000" dirty="0"/>
              <a:t>print(</a:t>
            </a:r>
            <a:r>
              <a:rPr lang="en-IN" sz="2000" dirty="0" err="1"/>
              <a:t>df</a:t>
            </a:r>
            <a:r>
              <a:rPr lang="en-IN" sz="2000" dirty="0"/>
              <a:t>)</a:t>
            </a:r>
          </a:p>
          <a:p>
            <a:endParaRPr lang="en-IN" sz="1000" b="1" dirty="0"/>
          </a:p>
          <a:p>
            <a:r>
              <a:rPr lang="en-IN" sz="2000" b="1" dirty="0"/>
              <a:t>OUTPUT:</a:t>
            </a:r>
            <a:r>
              <a:rPr lang="en-US" sz="2000" b="1" dirty="0"/>
              <a:t> </a:t>
            </a:r>
            <a:r>
              <a:rPr lang="en-US" sz="2000" dirty="0"/>
              <a:t>Name  Age Course</a:t>
            </a:r>
          </a:p>
          <a:p>
            <a:r>
              <a:rPr lang="en-US" sz="2000" dirty="0"/>
              <a:t>              0   Ajay   19    CSE</a:t>
            </a:r>
          </a:p>
          <a:p>
            <a:r>
              <a:rPr lang="en-US" sz="2000" dirty="0"/>
              <a:t>              1   Ravi   20    ECE</a:t>
            </a:r>
          </a:p>
          <a:p>
            <a:r>
              <a:rPr lang="en-US" sz="2000" dirty="0"/>
              <a:t>              2  Kiran   21   AIML</a:t>
            </a:r>
          </a:p>
          <a:p>
            <a:endParaRPr lang="en-US" sz="800" dirty="0"/>
          </a:p>
          <a:p>
            <a:r>
              <a:rPr lang="en-US" sz="2300" b="1" dirty="0"/>
              <a:t>COMMON INBUILT FUNCTIONS:</a:t>
            </a:r>
          </a:p>
          <a:p>
            <a:endParaRPr lang="en-US" sz="1400" b="1" dirty="0"/>
          </a:p>
          <a:p>
            <a:r>
              <a:rPr lang="en-US" sz="2000" b="1" dirty="0" err="1"/>
              <a:t>df.head</a:t>
            </a:r>
            <a:r>
              <a:rPr lang="en-US" sz="2000" b="1" dirty="0"/>
              <a:t>()--</a:t>
            </a:r>
            <a:r>
              <a:rPr lang="en-US" sz="2000" dirty="0"/>
              <a:t>Returns the first 5 rows of the </a:t>
            </a:r>
            <a:r>
              <a:rPr lang="en-US" sz="2000" dirty="0" err="1"/>
              <a:t>DataFrame</a:t>
            </a:r>
            <a:endParaRPr lang="en-US" sz="2000" dirty="0"/>
          </a:p>
          <a:p>
            <a:r>
              <a:rPr lang="en-US" sz="2000" b="1" dirty="0" err="1"/>
              <a:t>df.tail</a:t>
            </a:r>
            <a:r>
              <a:rPr lang="en-US" sz="2000" b="1" dirty="0"/>
              <a:t>()--</a:t>
            </a:r>
            <a:r>
              <a:rPr lang="en-US" sz="2000" dirty="0"/>
              <a:t>Returns the last 5 rows of the </a:t>
            </a:r>
            <a:r>
              <a:rPr lang="en-US" sz="2000" dirty="0" err="1"/>
              <a:t>DataFrame</a:t>
            </a:r>
            <a:endParaRPr lang="en-US" sz="2000" dirty="0"/>
          </a:p>
          <a:p>
            <a:r>
              <a:rPr lang="en-US" sz="2000" b="1" dirty="0" err="1"/>
              <a:t>df.describe</a:t>
            </a:r>
            <a:r>
              <a:rPr lang="en-US" sz="2000" b="1" dirty="0"/>
              <a:t>()--</a:t>
            </a:r>
            <a:r>
              <a:rPr lang="en-US" sz="2000" dirty="0"/>
              <a:t>Gives statistical summary of numeric columns (count, mean, min, max, etc.)</a:t>
            </a:r>
          </a:p>
          <a:p>
            <a:r>
              <a:rPr lang="en-US" sz="2000" b="1" dirty="0" err="1"/>
              <a:t>df.shape</a:t>
            </a:r>
            <a:r>
              <a:rPr lang="en-US" sz="2000" b="1" dirty="0"/>
              <a:t>--</a:t>
            </a:r>
            <a:r>
              <a:rPr lang="en-US" sz="2000" dirty="0"/>
              <a:t>Returns the (rows, columns) of the </a:t>
            </a:r>
            <a:r>
              <a:rPr lang="en-US" sz="2000" dirty="0" err="1"/>
              <a:t>DataFrame</a:t>
            </a:r>
            <a:r>
              <a:rPr lang="en-US" sz="2000" dirty="0"/>
              <a:t> as a tuple</a:t>
            </a:r>
          </a:p>
          <a:p>
            <a:endParaRPr lang="en-IN" sz="800" b="1" dirty="0"/>
          </a:p>
          <a:p>
            <a:r>
              <a:rPr lang="en-IN" sz="2000" b="1" dirty="0"/>
              <a:t>LET US IMPORT A DATA SET AND TRY THESE(IMPORTING DATASET FROM KAGGLE)</a:t>
            </a:r>
          </a:p>
        </p:txBody>
      </p:sp>
    </p:spTree>
    <p:extLst>
      <p:ext uri="{BB962C8B-B14F-4D97-AF65-F5344CB8AC3E}">
        <p14:creationId xmlns:p14="http://schemas.microsoft.com/office/powerpoint/2010/main" val="640847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29FEC7-3D61-FEB2-0838-2F83F465D731}"/>
              </a:ext>
            </a:extLst>
          </p:cNvPr>
          <p:cNvSpPr txBox="1"/>
          <p:nvPr/>
        </p:nvSpPr>
        <p:spPr>
          <a:xfrm>
            <a:off x="98323" y="226142"/>
            <a:ext cx="11975690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/>
              <a:t>IMPORTED THE DATASET OF BMW CAR SALES FROM 2010-2024</a:t>
            </a:r>
          </a:p>
          <a:p>
            <a:endParaRPr lang="en-IN" sz="800" b="1" dirty="0"/>
          </a:p>
          <a:p>
            <a:r>
              <a:rPr lang="en-IN" sz="2000" dirty="0"/>
              <a:t>Using</a:t>
            </a:r>
            <a:r>
              <a:rPr lang="en-IN" sz="2000" b="1" dirty="0"/>
              <a:t> </a:t>
            </a:r>
            <a:r>
              <a:rPr lang="en-US" sz="2000" dirty="0" err="1"/>
              <a:t>df.head</a:t>
            </a:r>
            <a:r>
              <a:rPr lang="en-US" sz="2000" dirty="0"/>
              <a:t>()--Returns the first 5 rows of the </a:t>
            </a:r>
            <a:r>
              <a:rPr lang="en-US" sz="2000" dirty="0" err="1"/>
              <a:t>DataFrame</a:t>
            </a:r>
            <a:endParaRPr lang="en-US" sz="2000" dirty="0"/>
          </a:p>
          <a:p>
            <a:endParaRPr lang="en-IN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808F78-F2F2-3F05-CE35-4FB99F7A2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1" y="1209414"/>
            <a:ext cx="12093677" cy="529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179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9EF246-14C7-2812-DF54-64C5CF2640A5}"/>
              </a:ext>
            </a:extLst>
          </p:cNvPr>
          <p:cNvSpPr txBox="1"/>
          <p:nvPr/>
        </p:nvSpPr>
        <p:spPr>
          <a:xfrm>
            <a:off x="68826" y="216310"/>
            <a:ext cx="12034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Using </a:t>
            </a:r>
            <a:r>
              <a:rPr lang="en-US" sz="2000" dirty="0" err="1"/>
              <a:t>df.tail</a:t>
            </a:r>
            <a:r>
              <a:rPr lang="en-US" sz="2000" dirty="0"/>
              <a:t>()--Returns the last 5 rows of the </a:t>
            </a:r>
            <a:r>
              <a:rPr lang="en-US" sz="2000" dirty="0" err="1"/>
              <a:t>DataFrame</a:t>
            </a:r>
            <a:endParaRPr lang="en-US" sz="2000" dirty="0"/>
          </a:p>
          <a:p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2C0D08-1B9C-13A4-BC5C-72A43691D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1" y="816041"/>
            <a:ext cx="11897033" cy="572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166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4C9383-E24F-AEED-D27F-EAC6476693D4}"/>
              </a:ext>
            </a:extLst>
          </p:cNvPr>
          <p:cNvSpPr txBox="1"/>
          <p:nvPr/>
        </p:nvSpPr>
        <p:spPr>
          <a:xfrm>
            <a:off x="78658" y="186813"/>
            <a:ext cx="12034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Using </a:t>
            </a:r>
            <a:r>
              <a:rPr lang="en-US" sz="2000" dirty="0" err="1"/>
              <a:t>df.describe</a:t>
            </a:r>
            <a:r>
              <a:rPr lang="en-US" sz="2000" dirty="0"/>
              <a:t>()--Gives statistical summary of numeric columns (count, mean, min, max, etc.)</a:t>
            </a:r>
            <a:r>
              <a:rPr lang="en-IN" sz="20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4B08DE-CCEB-3A2E-B61A-91C3E7007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" y="868685"/>
            <a:ext cx="11798709" cy="570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48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8AD0F9-5356-8659-4A1E-62CAB4B3250F}"/>
              </a:ext>
            </a:extLst>
          </p:cNvPr>
          <p:cNvSpPr txBox="1"/>
          <p:nvPr/>
        </p:nvSpPr>
        <p:spPr>
          <a:xfrm>
            <a:off x="68826" y="137652"/>
            <a:ext cx="121231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Using </a:t>
            </a:r>
            <a:r>
              <a:rPr lang="en-US" sz="2000" dirty="0" err="1"/>
              <a:t>df.shape</a:t>
            </a:r>
            <a:r>
              <a:rPr lang="en-US" sz="2000" dirty="0"/>
              <a:t>--Returns the (rows, columns) of the </a:t>
            </a:r>
            <a:r>
              <a:rPr lang="en-US" sz="2000" dirty="0" err="1"/>
              <a:t>DataFrame</a:t>
            </a:r>
            <a:r>
              <a:rPr lang="en-US" sz="2000" dirty="0"/>
              <a:t> as a tuple</a:t>
            </a:r>
          </a:p>
          <a:p>
            <a:r>
              <a:rPr lang="en-IN" sz="20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1D5E0F-249B-EA60-35E4-B1605BEFD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64" y="611164"/>
            <a:ext cx="5047700" cy="24663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3B6635-786F-8463-6DCA-7C4DEDF63E43}"/>
              </a:ext>
            </a:extLst>
          </p:cNvPr>
          <p:cNvSpPr txBox="1"/>
          <p:nvPr/>
        </p:nvSpPr>
        <p:spPr>
          <a:xfrm>
            <a:off x="153564" y="3215148"/>
            <a:ext cx="11851623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/>
              <a:t>ILOC AND LOC</a:t>
            </a:r>
          </a:p>
          <a:p>
            <a:endParaRPr lang="en-IN" sz="800" b="1" dirty="0"/>
          </a:p>
          <a:p>
            <a:r>
              <a:rPr lang="en-IN" sz="2000" dirty="0"/>
              <a:t>ILOC:-Index-based selection</a:t>
            </a:r>
          </a:p>
          <a:p>
            <a:r>
              <a:rPr lang="en-US" sz="2000" dirty="0"/>
              <a:t>It is used to access rows and columns by their integer positions (like array indexes)</a:t>
            </a:r>
            <a:endParaRPr lang="en-IN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423075-E88B-472A-ED62-73DEC91B3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13" y="4362387"/>
            <a:ext cx="5014451" cy="24073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262119-D37A-280E-8672-CB2B4BB97757}"/>
              </a:ext>
            </a:extLst>
          </p:cNvPr>
          <p:cNvSpPr txBox="1"/>
          <p:nvPr/>
        </p:nvSpPr>
        <p:spPr>
          <a:xfrm>
            <a:off x="5329084" y="4532671"/>
            <a:ext cx="66761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df.iloc</a:t>
            </a:r>
            <a:r>
              <a:rPr lang="en-US" dirty="0"/>
              <a:t>[0]          # First row</a:t>
            </a:r>
          </a:p>
          <a:p>
            <a:r>
              <a:rPr lang="en-US" dirty="0" err="1"/>
              <a:t>df.iloc</a:t>
            </a:r>
            <a:r>
              <a:rPr lang="en-US" dirty="0"/>
              <a:t>[1, 0]      # Row 1, Column 0 (Ravi)</a:t>
            </a:r>
          </a:p>
          <a:p>
            <a:r>
              <a:rPr lang="en-US" dirty="0" err="1"/>
              <a:t>df.iloc</a:t>
            </a:r>
            <a:r>
              <a:rPr lang="en-US" dirty="0"/>
              <a:t>[:, 1]       # All rows, only column 1 (Age)</a:t>
            </a:r>
          </a:p>
          <a:p>
            <a:r>
              <a:rPr lang="en-US" dirty="0" err="1"/>
              <a:t>df.iloc</a:t>
            </a:r>
            <a:r>
              <a:rPr lang="en-US" dirty="0"/>
              <a:t>[0:2, :]    # First two rows, all columns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9384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46F6DB-AA13-407E-93CC-E99C9B8A4772}"/>
              </a:ext>
            </a:extLst>
          </p:cNvPr>
          <p:cNvSpPr txBox="1"/>
          <p:nvPr/>
        </p:nvSpPr>
        <p:spPr>
          <a:xfrm>
            <a:off x="98323" y="196645"/>
            <a:ext cx="119953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LOC:-Label-based selection</a:t>
            </a:r>
          </a:p>
          <a:p>
            <a:r>
              <a:rPr lang="en-US" sz="2000" dirty="0"/>
              <a:t>It is used to access data by row and column names (labels), not by position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512061-5DE2-5591-636E-78F5443C8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33" y="1046231"/>
            <a:ext cx="7985141" cy="39632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A7AAE7-1AD6-F126-998A-9E1DFA9D5F17}"/>
              </a:ext>
            </a:extLst>
          </p:cNvPr>
          <p:cNvSpPr txBox="1"/>
          <p:nvPr/>
        </p:nvSpPr>
        <p:spPr>
          <a:xfrm>
            <a:off x="175633" y="5279036"/>
            <a:ext cx="116329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df.loc</a:t>
            </a:r>
            <a:r>
              <a:rPr lang="en-IN" dirty="0"/>
              <a:t>[0]                              # Access row with label 0</a:t>
            </a:r>
          </a:p>
          <a:p>
            <a:r>
              <a:rPr lang="en-IN" dirty="0" err="1"/>
              <a:t>df.loc</a:t>
            </a:r>
            <a:r>
              <a:rPr lang="en-IN" dirty="0"/>
              <a:t>[:, ‘Year']                   # All rows, only ‘Year' column</a:t>
            </a:r>
          </a:p>
          <a:p>
            <a:r>
              <a:rPr lang="en-IN" dirty="0" err="1"/>
              <a:t>df.loc</a:t>
            </a:r>
            <a:r>
              <a:rPr lang="en-IN" dirty="0"/>
              <a:t>[1, ‘Model']              # Value at row 1, column ‘Model'</a:t>
            </a:r>
          </a:p>
          <a:p>
            <a:r>
              <a:rPr lang="en-IN" dirty="0" err="1"/>
              <a:t>df.loc</a:t>
            </a:r>
            <a:r>
              <a:rPr lang="en-IN" dirty="0"/>
              <a:t>[0:2, [‘Year']]            # Rows 0 to 2, only ‘Year' column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38530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B35415-DAF4-A342-59FA-C75A7CEE10D5}"/>
              </a:ext>
            </a:extLst>
          </p:cNvPr>
          <p:cNvSpPr txBox="1"/>
          <p:nvPr/>
        </p:nvSpPr>
        <p:spPr>
          <a:xfrm>
            <a:off x="108155" y="206477"/>
            <a:ext cx="119363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Dropping Columns:</a:t>
            </a:r>
          </a:p>
          <a:p>
            <a:endParaRPr lang="en-IN" sz="800" b="1" dirty="0"/>
          </a:p>
          <a:p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4E26A4-9275-0843-68D2-11995BC55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4" y="788050"/>
            <a:ext cx="11189110" cy="606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9116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91D917-5ACE-46E4-8060-EE64392D4C27}"/>
              </a:ext>
            </a:extLst>
          </p:cNvPr>
          <p:cNvSpPr txBox="1"/>
          <p:nvPr/>
        </p:nvSpPr>
        <p:spPr>
          <a:xfrm>
            <a:off x="78658" y="122903"/>
            <a:ext cx="11857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Dropping Rows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863A9D-5829-A50E-EF03-1E5F0D3B7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49" y="584568"/>
            <a:ext cx="11857702" cy="627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04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874F4F-1022-199B-92C3-E67E6DE3843B}"/>
              </a:ext>
            </a:extLst>
          </p:cNvPr>
          <p:cNvSpPr txBox="1"/>
          <p:nvPr/>
        </p:nvSpPr>
        <p:spPr>
          <a:xfrm>
            <a:off x="137652" y="206477"/>
            <a:ext cx="11936361" cy="6848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MATPLOTLIB</a:t>
            </a:r>
          </a:p>
          <a:p>
            <a:endParaRPr lang="en-IN" sz="900" dirty="0"/>
          </a:p>
          <a:p>
            <a:r>
              <a:rPr lang="en-US" sz="2000" b="1" dirty="0"/>
              <a:t>Matplotlib</a:t>
            </a:r>
            <a:r>
              <a:rPr lang="en-US" sz="2000" dirty="0"/>
              <a:t> is a Python library used to create visualizations such as graphs, charts, and plots to better understand data</a:t>
            </a:r>
          </a:p>
          <a:p>
            <a:r>
              <a:rPr lang="en-US" sz="2000" dirty="0"/>
              <a:t>the module </a:t>
            </a:r>
            <a:r>
              <a:rPr lang="en-US" dirty="0" err="1"/>
              <a:t>matplotlib.pyplot</a:t>
            </a:r>
            <a:r>
              <a:rPr lang="en-US" sz="2000" dirty="0"/>
              <a:t> is the most commonly used part</a:t>
            </a:r>
          </a:p>
          <a:p>
            <a:endParaRPr lang="en-US" sz="800" dirty="0"/>
          </a:p>
          <a:p>
            <a:r>
              <a:rPr lang="en-US" sz="2000" b="1" dirty="0"/>
              <a:t>Uses of Matplotlib</a:t>
            </a:r>
          </a:p>
          <a:p>
            <a:endParaRPr lang="en-US" sz="800" b="1" dirty="0"/>
          </a:p>
          <a:p>
            <a:r>
              <a:rPr lang="en-US" sz="2000" dirty="0"/>
              <a:t>Display data visually in the form of graphs.</a:t>
            </a:r>
          </a:p>
          <a:p>
            <a:r>
              <a:rPr lang="en-US" sz="2000" dirty="0"/>
              <a:t>Compare multiple datasets.</a:t>
            </a:r>
          </a:p>
          <a:p>
            <a:r>
              <a:rPr lang="en-US" sz="2000" dirty="0"/>
              <a:t>Detect patterns and anomalies in data.</a:t>
            </a:r>
          </a:p>
          <a:p>
            <a:r>
              <a:rPr lang="en-US" sz="2000" dirty="0"/>
              <a:t>Represent machine learning results effectively.</a:t>
            </a:r>
          </a:p>
          <a:p>
            <a:endParaRPr lang="en-IN" sz="800" dirty="0"/>
          </a:p>
          <a:p>
            <a:r>
              <a:rPr lang="en-IN" sz="2300" b="1" dirty="0"/>
              <a:t>COMMON TYPES OF PLOTS</a:t>
            </a:r>
          </a:p>
          <a:p>
            <a:endParaRPr lang="en-IN" sz="1400" b="1" dirty="0"/>
          </a:p>
          <a:p>
            <a:r>
              <a:rPr lang="en-IN" sz="2000" b="1" dirty="0"/>
              <a:t>PLOT TYPE                        FUNCTION</a:t>
            </a:r>
          </a:p>
          <a:p>
            <a:r>
              <a:rPr lang="en-IN" sz="2000" dirty="0"/>
              <a:t>Line plot                            </a:t>
            </a:r>
            <a:r>
              <a:rPr lang="en-IN" sz="2000" dirty="0" err="1"/>
              <a:t>plt.plot</a:t>
            </a:r>
            <a:r>
              <a:rPr lang="en-IN" sz="2000" dirty="0"/>
              <a:t>()</a:t>
            </a:r>
          </a:p>
          <a:p>
            <a:r>
              <a:rPr lang="en-IN" sz="2000" dirty="0"/>
              <a:t>Bar plot                             </a:t>
            </a:r>
            <a:r>
              <a:rPr lang="en-IN" sz="2000" dirty="0" err="1"/>
              <a:t>plt.bar</a:t>
            </a:r>
            <a:r>
              <a:rPr lang="en-IN" sz="2000" dirty="0"/>
              <a:t>()</a:t>
            </a:r>
          </a:p>
          <a:p>
            <a:r>
              <a:rPr lang="en-IN" sz="2000" dirty="0"/>
              <a:t>Scatter plot                       </a:t>
            </a:r>
            <a:r>
              <a:rPr lang="en-IN" sz="2000" dirty="0" err="1"/>
              <a:t>plt.scatter</a:t>
            </a:r>
            <a:r>
              <a:rPr lang="en-IN" sz="2000" dirty="0"/>
              <a:t>()</a:t>
            </a:r>
          </a:p>
          <a:p>
            <a:r>
              <a:rPr lang="en-IN" sz="2000" dirty="0"/>
              <a:t>Histogram                         </a:t>
            </a:r>
            <a:r>
              <a:rPr lang="en-IN" sz="2000" dirty="0" err="1"/>
              <a:t>plt.hist</a:t>
            </a:r>
            <a:r>
              <a:rPr lang="en-IN" sz="2000" dirty="0"/>
              <a:t>()</a:t>
            </a:r>
          </a:p>
          <a:p>
            <a:r>
              <a:rPr lang="en-IN" sz="2000" dirty="0"/>
              <a:t>Box plot                             </a:t>
            </a:r>
            <a:r>
              <a:rPr lang="en-IN" sz="2000" dirty="0" err="1"/>
              <a:t>plt.boxplot</a:t>
            </a:r>
            <a:r>
              <a:rPr lang="en-IN" sz="2000" dirty="0"/>
              <a:t>()</a:t>
            </a:r>
          </a:p>
          <a:p>
            <a:r>
              <a:rPr lang="en-IN" sz="2000" dirty="0"/>
              <a:t>Violin plot                         </a:t>
            </a:r>
            <a:r>
              <a:rPr lang="en-IN" sz="2000" dirty="0" err="1"/>
              <a:t>plt.violinplot</a:t>
            </a:r>
            <a:r>
              <a:rPr lang="en-IN" sz="2000" dirty="0"/>
              <a:t>()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560694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52FFDA-6A15-586A-5974-A40046D22732}"/>
              </a:ext>
            </a:extLst>
          </p:cNvPr>
          <p:cNvSpPr txBox="1"/>
          <p:nvPr/>
        </p:nvSpPr>
        <p:spPr>
          <a:xfrm>
            <a:off x="88490" y="186813"/>
            <a:ext cx="120150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LINE PLOT</a:t>
            </a:r>
          </a:p>
          <a:p>
            <a:endParaRPr lang="en-IN" sz="800" b="1" dirty="0"/>
          </a:p>
          <a:p>
            <a:r>
              <a:rPr lang="en-US" sz="2000" dirty="0"/>
              <a:t>A line plot is used to display data points connected by straight lines.</a:t>
            </a:r>
            <a:br>
              <a:rPr lang="en-US" sz="2000" dirty="0"/>
            </a:br>
            <a:r>
              <a:rPr lang="en-US" sz="2000" dirty="0"/>
              <a:t>It helps to show trends, patterns, or changes in data over a continuous period</a:t>
            </a:r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2603D3-2984-ECB9-67FF-F584C2F6D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0" y="1510252"/>
            <a:ext cx="5909187" cy="534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556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E1C94E-8C07-7E3F-790C-B9CB7F1D7F34}"/>
              </a:ext>
            </a:extLst>
          </p:cNvPr>
          <p:cNvSpPr txBox="1"/>
          <p:nvPr/>
        </p:nvSpPr>
        <p:spPr>
          <a:xfrm>
            <a:off x="68826" y="226142"/>
            <a:ext cx="12054348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/>
              <a:t>LINE PLOT WITH TITLE AND LABELS</a:t>
            </a:r>
          </a:p>
          <a:p>
            <a:endParaRPr lang="en-IN" sz="800" b="1" dirty="0"/>
          </a:p>
          <a:p>
            <a:endParaRPr lang="en-IN" sz="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C4E077-EBA3-A164-60E1-3FCEC4241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3" y="688258"/>
            <a:ext cx="8006432" cy="616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7486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283BD1-8ED2-7DD5-4EC5-0666C2A1CDF3}"/>
              </a:ext>
            </a:extLst>
          </p:cNvPr>
          <p:cNvSpPr txBox="1"/>
          <p:nvPr/>
        </p:nvSpPr>
        <p:spPr>
          <a:xfrm>
            <a:off x="167148" y="196645"/>
            <a:ext cx="1191669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/>
              <a:t>CHANGING LINE ASTHETICS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47F214-DC92-5550-3DB2-E89622507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48" y="642920"/>
            <a:ext cx="7103904" cy="62150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089B7E-3BC1-15A1-A91F-F80C26E5AC28}"/>
              </a:ext>
            </a:extLst>
          </p:cNvPr>
          <p:cNvSpPr txBox="1"/>
          <p:nvPr/>
        </p:nvSpPr>
        <p:spPr>
          <a:xfrm>
            <a:off x="7531510" y="642920"/>
            <a:ext cx="43753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SAME TYPE OF PLOT AS THE BEFORE ONE WITH SOME LINE CHARACTERS INCLUDED</a:t>
            </a:r>
          </a:p>
        </p:txBody>
      </p:sp>
    </p:spTree>
    <p:extLst>
      <p:ext uri="{BB962C8B-B14F-4D97-AF65-F5344CB8AC3E}">
        <p14:creationId xmlns:p14="http://schemas.microsoft.com/office/powerpoint/2010/main" val="27809726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08D587-6B46-5F17-312B-8A32ABF85027}"/>
              </a:ext>
            </a:extLst>
          </p:cNvPr>
          <p:cNvSpPr txBox="1"/>
          <p:nvPr/>
        </p:nvSpPr>
        <p:spPr>
          <a:xfrm>
            <a:off x="137652" y="147484"/>
            <a:ext cx="1189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Plotting Multiple Lines in a Single Graph</a:t>
            </a:r>
            <a:endParaRPr lang="en-IN" sz="23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7D775E-8607-9283-0AB8-93FCE2C22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2" y="609149"/>
            <a:ext cx="5249008" cy="2676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F232AF-3F6E-5A60-13C8-190C7F84A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1" y="3286048"/>
            <a:ext cx="5456903" cy="342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76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ECCB58-EDCA-F401-7E90-F30B293C29D2}"/>
              </a:ext>
            </a:extLst>
          </p:cNvPr>
          <p:cNvSpPr txBox="1"/>
          <p:nvPr/>
        </p:nvSpPr>
        <p:spPr>
          <a:xfrm>
            <a:off x="98323" y="167148"/>
            <a:ext cx="1197569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/>
              <a:t>ADDING SUBPLOTS TO LINE PLOT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071F17-B0A2-E005-33A6-CC99A19C0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3" y="879916"/>
            <a:ext cx="5289754" cy="42426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B0B880-658D-2A18-23B0-EAF209B3A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077" y="879916"/>
            <a:ext cx="6803923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3053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0EE73-2AFC-0F54-304A-AE34875B007D}"/>
              </a:ext>
            </a:extLst>
          </p:cNvPr>
          <p:cNvSpPr txBox="1"/>
          <p:nvPr/>
        </p:nvSpPr>
        <p:spPr>
          <a:xfrm>
            <a:off x="98323" y="176981"/>
            <a:ext cx="119461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BAR PLOT</a:t>
            </a:r>
          </a:p>
          <a:p>
            <a:endParaRPr lang="en-IN" sz="800" b="1" dirty="0"/>
          </a:p>
          <a:p>
            <a:r>
              <a:rPr lang="en-US" sz="2000" dirty="0"/>
              <a:t>A bar plot is used to represent categorical data with rectangular bars.</a:t>
            </a:r>
            <a:br>
              <a:rPr lang="en-US" sz="2000" dirty="0"/>
            </a:br>
            <a:r>
              <a:rPr lang="en-US" sz="2000" dirty="0"/>
              <a:t>The length or height of each bar corresponds to the value it represents.</a:t>
            </a:r>
          </a:p>
          <a:p>
            <a:endParaRPr lang="en-IN" sz="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B461E4-CCC2-980A-8319-A3BA20283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4" y="1494503"/>
            <a:ext cx="7113050" cy="536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4355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BA10CB-8D44-4055-9139-94A1913F7869}"/>
              </a:ext>
            </a:extLst>
          </p:cNvPr>
          <p:cNvSpPr txBox="1"/>
          <p:nvPr/>
        </p:nvSpPr>
        <p:spPr>
          <a:xfrm>
            <a:off x="127819" y="88490"/>
            <a:ext cx="1193636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/>
              <a:t>BAR PLOT WITH TITLE AND LABELS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5B1058-FBE0-37D9-4FB2-A534EA859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9" y="981042"/>
            <a:ext cx="5211097" cy="29753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B5EDBD-B271-C957-35FA-E40F1E24A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915" y="981042"/>
            <a:ext cx="6763694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038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7F72C0-2351-7F06-0858-1E0AB1397463}"/>
              </a:ext>
            </a:extLst>
          </p:cNvPr>
          <p:cNvSpPr txBox="1"/>
          <p:nvPr/>
        </p:nvSpPr>
        <p:spPr>
          <a:xfrm>
            <a:off x="78658" y="117987"/>
            <a:ext cx="1200518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HORIZONTAL BAR PLOT</a:t>
            </a:r>
          </a:p>
          <a:p>
            <a:endParaRPr lang="en-IN" sz="800" b="1" dirty="0"/>
          </a:p>
          <a:p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11B3A7-A794-38C2-8071-976AE5B26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5" y="828788"/>
            <a:ext cx="5077534" cy="2781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9F96DF-29C9-613B-8D07-D6DA2D8EE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689" y="828788"/>
            <a:ext cx="6763779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320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659556-5DF8-27AA-2E50-5DC2EF870874}"/>
              </a:ext>
            </a:extLst>
          </p:cNvPr>
          <p:cNvSpPr txBox="1"/>
          <p:nvPr/>
        </p:nvSpPr>
        <p:spPr>
          <a:xfrm>
            <a:off x="98323" y="176981"/>
            <a:ext cx="1189703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SCATTER PLOT</a:t>
            </a:r>
          </a:p>
          <a:p>
            <a:endParaRPr lang="en-IN" sz="800" b="1" dirty="0"/>
          </a:p>
          <a:p>
            <a:r>
              <a:rPr lang="en-US" sz="2000" dirty="0"/>
              <a:t>A scatter plot is used to display the relationship between two numerical variables by showing data points on a two-dimensional plane</a:t>
            </a:r>
          </a:p>
          <a:p>
            <a:endParaRPr lang="en-US" sz="800" b="1" dirty="0"/>
          </a:p>
          <a:p>
            <a:r>
              <a:rPr lang="en-US" sz="2300" b="1" dirty="0"/>
              <a:t>BASIC SCATTER PLOT</a:t>
            </a:r>
          </a:p>
          <a:p>
            <a:endParaRPr lang="en-US" sz="800" b="1" dirty="0"/>
          </a:p>
          <a:p>
            <a:endParaRPr lang="en-IN" sz="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800F72-AF1B-48B3-78AC-D63E143B2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5" y="2106149"/>
            <a:ext cx="3524742" cy="18267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C9C902-3CF3-0DE0-39E3-2584ED3D3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528" y="1746380"/>
            <a:ext cx="6335009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7459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285450-6416-2900-495E-0EF4E7EC3FB6}"/>
              </a:ext>
            </a:extLst>
          </p:cNvPr>
          <p:cNvSpPr txBox="1"/>
          <p:nvPr/>
        </p:nvSpPr>
        <p:spPr>
          <a:xfrm>
            <a:off x="68826" y="147484"/>
            <a:ext cx="1205434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/>
              <a:t>CHANGING MARK ASTHETICS</a:t>
            </a:r>
          </a:p>
          <a:p>
            <a:endParaRPr lang="en-IN" sz="800" b="1" dirty="0"/>
          </a:p>
          <a:p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9AF18C-66D5-96DD-BF4D-D7CF102DA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2" y="611132"/>
            <a:ext cx="6830378" cy="624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1399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C42CFF-A810-2098-9991-69270ECC7CEE}"/>
              </a:ext>
            </a:extLst>
          </p:cNvPr>
          <p:cNvSpPr txBox="1"/>
          <p:nvPr/>
        </p:nvSpPr>
        <p:spPr>
          <a:xfrm>
            <a:off x="108155" y="117987"/>
            <a:ext cx="12083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ADDING SUBPLOTS TO SCATTER PLOT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0DAF67-8092-149F-2669-66A00D224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43" y="803616"/>
            <a:ext cx="4097553" cy="29424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02A55C-FA74-F5F3-689F-DC120EBA2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296" y="803616"/>
            <a:ext cx="6420746" cy="560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623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10CAFE-72B0-746D-708E-291C41E630F2}"/>
              </a:ext>
            </a:extLst>
          </p:cNvPr>
          <p:cNvSpPr txBox="1"/>
          <p:nvPr/>
        </p:nvSpPr>
        <p:spPr>
          <a:xfrm>
            <a:off x="127818" y="147484"/>
            <a:ext cx="117003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HISTOGRAM</a:t>
            </a:r>
          </a:p>
          <a:p>
            <a:endParaRPr lang="en-IN" sz="800" b="1" dirty="0"/>
          </a:p>
          <a:p>
            <a:r>
              <a:rPr lang="en-US" sz="2000" dirty="0"/>
              <a:t>A histogram is used to show the distribution of a continuous numerical variable.</a:t>
            </a:r>
            <a:br>
              <a:rPr lang="en-US" sz="2000" dirty="0"/>
            </a:br>
            <a:r>
              <a:rPr lang="en-US" sz="2000" dirty="0"/>
              <a:t>It divides the entire range of values into intervals (bins) and counts how many values fall into each bin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13F89B-14E3-2B01-38A2-CFDBF8308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8" y="1465006"/>
            <a:ext cx="6601746" cy="524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97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B95E81-95D9-0746-A587-6705D4ACBC23}"/>
              </a:ext>
            </a:extLst>
          </p:cNvPr>
          <p:cNvSpPr txBox="1"/>
          <p:nvPr/>
        </p:nvSpPr>
        <p:spPr>
          <a:xfrm>
            <a:off x="78658" y="137652"/>
            <a:ext cx="12113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HISTOGRAM WITH DATASET</a:t>
            </a:r>
          </a:p>
          <a:p>
            <a:endParaRPr lang="en-IN" sz="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BB7961-5486-10AB-8CD2-3C0678DD7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" y="637088"/>
            <a:ext cx="6716062" cy="622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2708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18F130-5DF0-DAAB-2363-6D80059AF421}"/>
              </a:ext>
            </a:extLst>
          </p:cNvPr>
          <p:cNvSpPr txBox="1"/>
          <p:nvPr/>
        </p:nvSpPr>
        <p:spPr>
          <a:xfrm>
            <a:off x="0" y="88490"/>
            <a:ext cx="11769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BOX PLOT</a:t>
            </a:r>
          </a:p>
          <a:p>
            <a:endParaRPr lang="en-IN" sz="800" b="1" dirty="0"/>
          </a:p>
          <a:p>
            <a:r>
              <a:rPr lang="en-US" sz="2000" dirty="0"/>
              <a:t>A Box Plot (also known as a Box-and-Whisker Plot) is used to display the spread and skewness of numerical data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6C0C37-E87B-9A40-2F04-75A44155C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7" y="1256997"/>
            <a:ext cx="3534268" cy="24497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658E9F-6DF9-C4A8-F8B1-9FAFCE58D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316" y="1256996"/>
            <a:ext cx="6712187" cy="536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780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4C68D1-A289-2CD0-EBF8-4905E8AA6BFA}"/>
              </a:ext>
            </a:extLst>
          </p:cNvPr>
          <p:cNvSpPr txBox="1"/>
          <p:nvPr/>
        </p:nvSpPr>
        <p:spPr>
          <a:xfrm>
            <a:off x="127819" y="117987"/>
            <a:ext cx="119265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VIOLIN PLOT</a:t>
            </a:r>
          </a:p>
          <a:p>
            <a:endParaRPr lang="en-IN" sz="800" b="1" dirty="0"/>
          </a:p>
          <a:p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44CA09-FF6A-41AC-0304-05B3717E2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9" y="1040071"/>
            <a:ext cx="3629532" cy="21624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F86F93-C775-EFFE-FBD2-2B3B42E62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084" y="1040071"/>
            <a:ext cx="6824187" cy="516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647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8BE4B-AC09-FD85-1C25-5B9A8F04E006}"/>
              </a:ext>
            </a:extLst>
          </p:cNvPr>
          <p:cNvSpPr txBox="1"/>
          <p:nvPr/>
        </p:nvSpPr>
        <p:spPr>
          <a:xfrm>
            <a:off x="167148" y="186817"/>
            <a:ext cx="5928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PIE CHART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8131AD-F581-EE1D-865D-CD6F224B6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48" y="810917"/>
            <a:ext cx="5506218" cy="60470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8D8E17-CFD0-5F66-33DC-064F1FD5ADEE}"/>
              </a:ext>
            </a:extLst>
          </p:cNvPr>
          <p:cNvSpPr txBox="1"/>
          <p:nvPr/>
        </p:nvSpPr>
        <p:spPr>
          <a:xfrm>
            <a:off x="6096000" y="191731"/>
            <a:ext cx="58206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DOUGHNUT CHART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480A9B-E087-2766-85EF-F1F13304F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810917"/>
            <a:ext cx="3943900" cy="20386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5272A9-766D-4B53-8EC6-1D6C94D02D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815141"/>
            <a:ext cx="4699819" cy="375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6746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BF4625-D39A-DCE7-CDB9-4530C2D42C36}"/>
              </a:ext>
            </a:extLst>
          </p:cNvPr>
          <p:cNvSpPr txBox="1"/>
          <p:nvPr/>
        </p:nvSpPr>
        <p:spPr>
          <a:xfrm>
            <a:off x="78658" y="147484"/>
            <a:ext cx="12005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/>
              <a:t>SEABORN </a:t>
            </a:r>
            <a:r>
              <a:rPr lang="en-IN" sz="3200" b="1" dirty="0"/>
              <a:t>LINE PLOT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BABBC8-43C0-4BE7-CF58-60727298C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" y="732259"/>
            <a:ext cx="5096586" cy="35533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DE7A99-EE5B-FD6C-8053-BDF001A551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244" y="732259"/>
            <a:ext cx="7016757" cy="61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098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CB0BEB-305F-5DE7-0072-2DDC9F4C75C5}"/>
              </a:ext>
            </a:extLst>
          </p:cNvPr>
          <p:cNvSpPr txBox="1"/>
          <p:nvPr/>
        </p:nvSpPr>
        <p:spPr>
          <a:xfrm>
            <a:off x="88490" y="137653"/>
            <a:ext cx="12015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Customizing Line Plots: Hue, Style &amp; Markers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1B3440-7973-D90E-678D-C3F60D90B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671128"/>
            <a:ext cx="8154538" cy="60492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5DD236-8BA1-93B5-A2E4-B99B8C2F76DC}"/>
              </a:ext>
            </a:extLst>
          </p:cNvPr>
          <p:cNvSpPr txBox="1"/>
          <p:nvPr/>
        </p:nvSpPr>
        <p:spPr>
          <a:xfrm>
            <a:off x="8475406" y="757084"/>
            <a:ext cx="341179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x-axis represents “timepoint”, and the y-axis represents “signal”</a:t>
            </a:r>
          </a:p>
          <a:p>
            <a:endParaRPr lang="en-US" sz="800" dirty="0"/>
          </a:p>
          <a:p>
            <a:r>
              <a:rPr lang="en-US" dirty="0"/>
              <a:t>The hue="event" parameter separates the lines by different events, using distinct colors</a:t>
            </a:r>
          </a:p>
          <a:p>
            <a:endParaRPr lang="en-US" sz="800" dirty="0"/>
          </a:p>
          <a:p>
            <a:r>
              <a:rPr lang="en-US" dirty="0"/>
              <a:t>The style="event" parameter changes the line style (solid, dashed, etc.) for each event</a:t>
            </a:r>
          </a:p>
          <a:p>
            <a:endParaRPr lang="en-US" sz="800" dirty="0"/>
          </a:p>
          <a:p>
            <a:r>
              <a:rPr lang="en-US" dirty="0"/>
              <a:t>The markers=True option adds markers at each data point to improve readability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2345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417DB5-4B3C-15CA-D64C-A331ED3482C8}"/>
              </a:ext>
            </a:extLst>
          </p:cNvPr>
          <p:cNvSpPr txBox="1"/>
          <p:nvPr/>
        </p:nvSpPr>
        <p:spPr>
          <a:xfrm>
            <a:off x="108155" y="137652"/>
            <a:ext cx="11946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IMPORTING TIPS 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55A300-B8A3-36F1-9B6D-E0E78FB8B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2" y="599317"/>
            <a:ext cx="5763429" cy="4105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7381FC-CEDE-F666-D0FB-238C8F0D8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251" y="599317"/>
            <a:ext cx="5757787" cy="62586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B2DF9C-624E-E3E3-6A55-4C8C5CAAFEA4}"/>
              </a:ext>
            </a:extLst>
          </p:cNvPr>
          <p:cNvSpPr txBox="1"/>
          <p:nvPr/>
        </p:nvSpPr>
        <p:spPr>
          <a:xfrm>
            <a:off x="353961" y="4916129"/>
            <a:ext cx="53585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scatter plot showing the relationship between the total bill and the tip</a:t>
            </a:r>
            <a:endParaRPr lang="en-IN" sz="200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BB353F5-86E0-3BE0-351A-D6378D87B910}"/>
              </a:ext>
            </a:extLst>
          </p:cNvPr>
          <p:cNvSpPr/>
          <p:nvPr/>
        </p:nvSpPr>
        <p:spPr>
          <a:xfrm>
            <a:off x="5712542" y="5201265"/>
            <a:ext cx="368709" cy="4227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377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95937C-4D42-CD6C-8E1B-42F51CB200DB}"/>
              </a:ext>
            </a:extLst>
          </p:cNvPr>
          <p:cNvSpPr txBox="1"/>
          <p:nvPr/>
        </p:nvSpPr>
        <p:spPr>
          <a:xfrm>
            <a:off x="137652" y="147484"/>
            <a:ext cx="119068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Scatter Plot with Hue Parameter</a:t>
            </a:r>
          </a:p>
          <a:p>
            <a:endParaRPr lang="en-US" sz="800" b="1" dirty="0"/>
          </a:p>
          <a:p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5E4E9C-1ADE-E41C-B55B-602C9C3B2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93" y="878213"/>
            <a:ext cx="6668431" cy="597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9724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F7C976-E0C7-EA8F-2223-912850CF016B}"/>
              </a:ext>
            </a:extLst>
          </p:cNvPr>
          <p:cNvSpPr txBox="1"/>
          <p:nvPr/>
        </p:nvSpPr>
        <p:spPr>
          <a:xfrm>
            <a:off x="117987" y="167148"/>
            <a:ext cx="11946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IMPORTING FMRI 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DB2EDD-46D4-9B22-3B7F-7BC07BED4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7" y="628813"/>
            <a:ext cx="5048955" cy="31627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C96D12-A444-BB40-9CD1-CD2BA9797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6" y="3974320"/>
            <a:ext cx="1179871" cy="895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64F775-F669-4593-5D9B-1DE857DB88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2231" y="628813"/>
            <a:ext cx="6039693" cy="622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5460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BFE4B2-CD28-49DE-636A-D69749132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7201"/>
            <a:ext cx="7039897" cy="6620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603742-B249-1A6C-B947-58BFC967F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751" y="237200"/>
            <a:ext cx="6315249" cy="66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5690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7EE87E-0781-D652-D49D-68CA2FD8CB22}"/>
              </a:ext>
            </a:extLst>
          </p:cNvPr>
          <p:cNvSpPr txBox="1"/>
          <p:nvPr/>
        </p:nvSpPr>
        <p:spPr>
          <a:xfrm>
            <a:off x="108154" y="167148"/>
            <a:ext cx="11926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Line Plot with Multiple Categories using Hue and Style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C3B757-28AF-7E6B-7594-A6C882520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7" y="628812"/>
            <a:ext cx="7220415" cy="622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829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E9679C-C14E-7DB3-CF01-0262DE7C9346}"/>
              </a:ext>
            </a:extLst>
          </p:cNvPr>
          <p:cNvSpPr txBox="1"/>
          <p:nvPr/>
        </p:nvSpPr>
        <p:spPr>
          <a:xfrm>
            <a:off x="78658" y="108155"/>
            <a:ext cx="12113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Line Plot with Markers and Continuous Lines using Hue and Style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7C892C-95B2-82E0-7D81-DB614CC4B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" y="569820"/>
            <a:ext cx="6941071" cy="628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29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2B8C62-72A5-61E2-4261-4C5949DD9041}"/>
              </a:ext>
            </a:extLst>
          </p:cNvPr>
          <p:cNvSpPr txBox="1"/>
          <p:nvPr/>
        </p:nvSpPr>
        <p:spPr>
          <a:xfrm>
            <a:off x="0" y="78658"/>
            <a:ext cx="11995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CATEGORICAL SCATTER PLOT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96C1C1-2DA5-89B8-3765-AA8C4E30A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1" y="747252"/>
            <a:ext cx="6182588" cy="61107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533DEB-94C8-0B25-D90D-9BFC969A9FA8}"/>
              </a:ext>
            </a:extLst>
          </p:cNvPr>
          <p:cNvSpPr txBox="1"/>
          <p:nvPr/>
        </p:nvSpPr>
        <p:spPr>
          <a:xfrm>
            <a:off x="6764594" y="983226"/>
            <a:ext cx="4945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categorical plots help us compare categories, detect patterns, and understand distributions across different groups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76547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A7F9FD5-CCCA-A1C7-BB21-83DEEF8C743F}"/>
              </a:ext>
            </a:extLst>
          </p:cNvPr>
          <p:cNvSpPr txBox="1"/>
          <p:nvPr/>
        </p:nvSpPr>
        <p:spPr>
          <a:xfrm>
            <a:off x="98323" y="117987"/>
            <a:ext cx="11926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Categorical Scatter Plot without Jitter using Seaborn</a:t>
            </a:r>
            <a:endParaRPr lang="en-IN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6086A7-0B4C-5391-5BFB-59935C590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47" y="579652"/>
            <a:ext cx="6163535" cy="627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043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4B24379-C9FF-CB8B-6B06-4A17CEF761EE}"/>
              </a:ext>
            </a:extLst>
          </p:cNvPr>
          <p:cNvSpPr txBox="1"/>
          <p:nvPr/>
        </p:nvSpPr>
        <p:spPr>
          <a:xfrm>
            <a:off x="0" y="110301"/>
            <a:ext cx="7020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Swarm Plot for Visualizing Total Bills Across Days</a:t>
            </a:r>
            <a:endParaRPr lang="en-IN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6384B7-02D7-1CCE-3F99-D4968EC08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39" y="571966"/>
            <a:ext cx="6239746" cy="628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4785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5075B4-CC6A-3EA9-E31D-EB5FF1A3D1EA}"/>
              </a:ext>
            </a:extLst>
          </p:cNvPr>
          <p:cNvSpPr txBox="1"/>
          <p:nvPr/>
        </p:nvSpPr>
        <p:spPr>
          <a:xfrm>
            <a:off x="98322" y="176981"/>
            <a:ext cx="11946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ADDING HUE SEMATIC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757EE6-9C31-516D-FA9D-A3C337315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5" y="638646"/>
            <a:ext cx="7030431" cy="621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993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0CB990-13BF-230F-9559-4B8EBC5211F1}"/>
              </a:ext>
            </a:extLst>
          </p:cNvPr>
          <p:cNvSpPr txBox="1"/>
          <p:nvPr/>
        </p:nvSpPr>
        <p:spPr>
          <a:xfrm>
            <a:off x="0" y="147484"/>
            <a:ext cx="11995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Categorical Plot with Custom Order of Categories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E76F7D-11A7-D6C7-8122-61BCE3E69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7" y="737419"/>
            <a:ext cx="6192114" cy="612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4143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D9BDC8-CCAD-B6CE-09E4-47118E965AE2}"/>
              </a:ext>
            </a:extLst>
          </p:cNvPr>
          <p:cNvSpPr txBox="1"/>
          <p:nvPr/>
        </p:nvSpPr>
        <p:spPr>
          <a:xfrm>
            <a:off x="98323" y="117987"/>
            <a:ext cx="11936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Categorical plot on vertical axis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E4A5BD-884E-2D3A-3385-E28F7E66B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6" y="579652"/>
            <a:ext cx="7001852" cy="627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403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ADB4BC-69FB-E282-FE45-074862D2C2ED}"/>
              </a:ext>
            </a:extLst>
          </p:cNvPr>
          <p:cNvSpPr txBox="1"/>
          <p:nvPr/>
        </p:nvSpPr>
        <p:spPr>
          <a:xfrm>
            <a:off x="0" y="127819"/>
            <a:ext cx="11946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BOX PLOT </a:t>
            </a:r>
            <a:r>
              <a:rPr lang="en-IN" sz="2400" b="1" dirty="0" err="1"/>
              <a:t>Represntation</a:t>
            </a:r>
            <a:r>
              <a:rPr lang="en-IN" sz="2400" b="1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54700C-BFEC-19C9-E96E-D67D0B681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2" y="589484"/>
            <a:ext cx="6096851" cy="626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9280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CBBC1A-6C60-609F-C9C5-E27B2DBDA4FE}"/>
              </a:ext>
            </a:extLst>
          </p:cNvPr>
          <p:cNvSpPr txBox="1"/>
          <p:nvPr/>
        </p:nvSpPr>
        <p:spPr>
          <a:xfrm>
            <a:off x="127819" y="98323"/>
            <a:ext cx="11936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VIOLIN PLOT Representation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F4A1F1-D2A8-8D23-2122-4204013DF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9" y="670272"/>
            <a:ext cx="7097115" cy="618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4110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D5DDF2-675D-A6E9-9638-4A353AE0F965}"/>
              </a:ext>
            </a:extLst>
          </p:cNvPr>
          <p:cNvSpPr txBox="1"/>
          <p:nvPr/>
        </p:nvSpPr>
        <p:spPr>
          <a:xfrm>
            <a:off x="88490" y="127819"/>
            <a:ext cx="11867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Violin Plot with Split Hue for Gender-wise Comparison of Total Bills</a:t>
            </a:r>
            <a:endParaRPr lang="en-IN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7F4FFF-4A6D-7E5B-8651-E63843977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48" y="668142"/>
            <a:ext cx="7582958" cy="618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9653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F14BCF-3FCA-8D84-06EA-C5D51540C746}"/>
              </a:ext>
            </a:extLst>
          </p:cNvPr>
          <p:cNvSpPr txBox="1"/>
          <p:nvPr/>
        </p:nvSpPr>
        <p:spPr>
          <a:xfrm>
            <a:off x="98323" y="176981"/>
            <a:ext cx="12093677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CONCLUSION</a:t>
            </a:r>
          </a:p>
          <a:p>
            <a:endParaRPr lang="en-IN" sz="800" b="1" dirty="0"/>
          </a:p>
          <a:p>
            <a:r>
              <a:rPr lang="en-US" sz="2400" dirty="0"/>
              <a:t>During this internship, I gained valuable insights into Artificial Intelligence and Machine Learning, along with hands-on experience using Python libraries such as NumPy, Pandas, Matplotlib, and Seaborn.</a:t>
            </a:r>
          </a:p>
          <a:p>
            <a:endParaRPr lang="en-US" sz="1000" dirty="0"/>
          </a:p>
          <a:p>
            <a:r>
              <a:rPr lang="en-US" sz="2400" dirty="0"/>
              <a:t>These sessions helped me understand the process of data handling, visualization, and analysis — skills that will be extremely useful for my project, </a:t>
            </a:r>
            <a:r>
              <a:rPr lang="en-US" sz="2400" i="1" dirty="0" err="1"/>
              <a:t>BudgetWise</a:t>
            </a:r>
            <a:r>
              <a:rPr lang="en-US" sz="2400" i="1" dirty="0"/>
              <a:t>: AI-based Expense Forecasting Tool</a:t>
            </a:r>
            <a:r>
              <a:rPr lang="en-US" sz="2400" dirty="0"/>
              <a:t>.</a:t>
            </a:r>
          </a:p>
          <a:p>
            <a:endParaRPr lang="en-US" sz="1000" dirty="0"/>
          </a:p>
          <a:p>
            <a:r>
              <a:rPr lang="en-US" sz="2400" dirty="0"/>
              <a:t>I would like to express my sincere gratitude to Infosys Springboard for providing this learning opportunity and to my mentor Sangeetha Mam for her continuous guidance and support during</a:t>
            </a:r>
          </a:p>
          <a:p>
            <a:r>
              <a:rPr lang="en-US" sz="2400" dirty="0"/>
              <a:t>this internship period.</a:t>
            </a:r>
          </a:p>
          <a:p>
            <a:endParaRPr lang="en-US" sz="1000" dirty="0"/>
          </a:p>
          <a:p>
            <a:endParaRPr lang="en-US" sz="1000" dirty="0"/>
          </a:p>
          <a:p>
            <a:r>
              <a:rPr lang="en-US" sz="3600" b="1" dirty="0"/>
              <a:t> THANK YOU</a:t>
            </a:r>
          </a:p>
          <a:p>
            <a:endParaRPr lang="en-US" sz="800" b="1" dirty="0"/>
          </a:p>
          <a:p>
            <a:r>
              <a:rPr lang="en-US" sz="2800" b="1" dirty="0"/>
              <a:t> </a:t>
            </a:r>
            <a:r>
              <a:rPr lang="en-US" sz="2800" dirty="0"/>
              <a:t>GORLE AJAY</a:t>
            </a:r>
          </a:p>
          <a:p>
            <a:r>
              <a:rPr lang="en-US" sz="2800" dirty="0"/>
              <a:t> </a:t>
            </a:r>
            <a:r>
              <a:rPr lang="en-IN" sz="2800" dirty="0"/>
              <a:t>AI Domain Intern | </a:t>
            </a:r>
            <a:r>
              <a:rPr lang="en-IN" sz="2800" dirty="0" err="1"/>
              <a:t>BudgetWise</a:t>
            </a:r>
            <a:r>
              <a:rPr lang="en-IN" sz="2800" dirty="0"/>
              <a:t> Project</a:t>
            </a:r>
            <a:endParaRPr lang="en-US" sz="2800" dirty="0"/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991604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3689</TotalTime>
  <Words>3460</Words>
  <Application>Microsoft Office PowerPoint</Application>
  <PresentationFormat>Widescreen</PresentationFormat>
  <Paragraphs>595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GORLE</dc:creator>
  <cp:lastModifiedBy>AJAY GORLE</cp:lastModifiedBy>
  <cp:revision>2</cp:revision>
  <dcterms:created xsi:type="dcterms:W3CDTF">2025-10-30T14:55:26Z</dcterms:created>
  <dcterms:modified xsi:type="dcterms:W3CDTF">2025-11-02T07:44:11Z</dcterms:modified>
</cp:coreProperties>
</file>